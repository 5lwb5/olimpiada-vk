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d3c246e60c24d61" /><Relationship Type="http://schemas.openxmlformats.org/officeDocument/2006/relationships/extended-properties" Target="/docProps/app.xml" Id="Ra7ced084b38c4310" /><Relationship Type="http://schemas.openxmlformats.org/officeDocument/2006/relationships/officeDocument" Target="/ppt/presentation.xml" Id="R8454a70540014b2c" /></Relationships>
</file>

<file path=ppt/presentation.xml><?xml version="1.0" encoding="utf-8"?>
<p:presentation xmlns:p="http://schemas.openxmlformats.org/presentationml/2006/main">
  <p:sldMasterIdLst>
    <p:sldMasterId xmlns:r="http://schemas.openxmlformats.org/officeDocument/2006/relationships" id="2147483648" r:id="R53dcdcc799574269"/>
  </p:sldMasterIdLst>
  <p:notesMasterIdLst>
    <p:notesMasterId xmlns:r="http://schemas.openxmlformats.org/officeDocument/2006/relationships" r:id="R531c01038a0844b6"/>
  </p:notesMasterIdLst>
  <p:sldIdLst>
    <p:sldId xmlns:r="http://schemas.openxmlformats.org/officeDocument/2006/relationships" id="256" r:id="R891f2df131054fa8"/>
    <p:sldId xmlns:r="http://schemas.openxmlformats.org/officeDocument/2006/relationships" id="257" r:id="R8de89d1e870f47a3"/>
    <p:sldId xmlns:r="http://schemas.openxmlformats.org/officeDocument/2006/relationships" id="258" r:id="R3538f9b553ff4498"/>
    <p:sldId xmlns:r="http://schemas.openxmlformats.org/officeDocument/2006/relationships" id="259" r:id="R72ca68b2555646f8"/>
    <p:sldId xmlns:r="http://schemas.openxmlformats.org/officeDocument/2006/relationships" id="260" r:id="R282edce765b744f1"/>
    <p:sldId xmlns:r="http://schemas.openxmlformats.org/officeDocument/2006/relationships" id="261" r:id="R620881f89ba54df9"/>
    <p:sldId xmlns:r="http://schemas.openxmlformats.org/officeDocument/2006/relationships" id="262" r:id="R19c730acb1be4936"/>
    <p:sldId xmlns:r="http://schemas.openxmlformats.org/officeDocument/2006/relationships" id="263" r:id="Rb356edb57db944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9a4a66a47949d2" /><Relationship Type="http://schemas.openxmlformats.org/officeDocument/2006/relationships/slideMaster" Target="/ppt/slideMasters/slideMaster1.xml" Id="R53dcdcc799574269" /><Relationship Type="http://schemas.openxmlformats.org/officeDocument/2006/relationships/notesMaster" Target="/ppt/notesMasters/notesMaster1.xml" Id="R531c01038a0844b6" /><Relationship Type="http://schemas.openxmlformats.org/officeDocument/2006/relationships/presProps" Target="/ppt/presProps.xml" Id="R589b8211a0fc4119" /><Relationship Type="http://schemas.openxmlformats.org/officeDocument/2006/relationships/tableStyles" Target="/ppt/tableStyles.xml" Id="Rc5efdaf394e74c88" /><Relationship Type="http://schemas.openxmlformats.org/officeDocument/2006/relationships/slide" Target="/ppt/slides/slide1.xml" Id="R891f2df131054fa8" /><Relationship Type="http://schemas.openxmlformats.org/officeDocument/2006/relationships/slide" Target="/ppt/slides/slide2.xml" Id="R8de89d1e870f47a3" /><Relationship Type="http://schemas.openxmlformats.org/officeDocument/2006/relationships/slide" Target="/ppt/slides/slide3.xml" Id="R3538f9b553ff4498" /><Relationship Type="http://schemas.openxmlformats.org/officeDocument/2006/relationships/slide" Target="/ppt/slides/slide4.xml" Id="R72ca68b2555646f8" /><Relationship Type="http://schemas.openxmlformats.org/officeDocument/2006/relationships/slide" Target="/ppt/slides/slide5.xml" Id="R282edce765b744f1" /><Relationship Type="http://schemas.openxmlformats.org/officeDocument/2006/relationships/slide" Target="/ppt/slides/slide6.xml" Id="R620881f89ba54df9" /><Relationship Type="http://schemas.openxmlformats.org/officeDocument/2006/relationships/slide" Target="/ppt/slides/slide7.xml" Id="R19c730acb1be4936" /><Relationship Type="http://schemas.openxmlformats.org/officeDocument/2006/relationships/slide" Target="/ppt/slides/slide8.xml" Id="Rb356edb57db944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bb2f7edda042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7e5b63b94746ae" /><Relationship Type="http://schemas.openxmlformats.org/officeDocument/2006/relationships/notesMaster" Target="/ppt/notesMasters/notesMaster1.xml" Id="R1ba46cbcaf3747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c4b25a29e44ccb" /><Relationship Type="http://schemas.openxmlformats.org/officeDocument/2006/relationships/notesMaster" Target="/ppt/notesMasters/notesMaster1.xml" Id="R4431ed766a1142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f8b0c3d7984328" /><Relationship Type="http://schemas.openxmlformats.org/officeDocument/2006/relationships/notesMaster" Target="/ppt/notesMasters/notesMaster1.xml" Id="Rab85706d88f748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ee0944a03d4f6b" /><Relationship Type="http://schemas.openxmlformats.org/officeDocument/2006/relationships/notesMaster" Target="/ppt/notesMasters/notesMaster1.xml" Id="Re6663353d9ec47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6657ed5d99472f" /><Relationship Type="http://schemas.openxmlformats.org/officeDocument/2006/relationships/notesMaster" Target="/ppt/notesMasters/notesMaster1.xml" Id="R721d2afd17a14c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64a07a824d4c17" /><Relationship Type="http://schemas.openxmlformats.org/officeDocument/2006/relationships/notesMaster" Target="/ppt/notesMasters/notesMaster1.xml" Id="R69d3997b580344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8b73e5af2d4a16" /><Relationship Type="http://schemas.openxmlformats.org/officeDocument/2006/relationships/notesMaster" Target="/ppt/notesMasters/notesMaster1.xml" Id="Re8a8517ddb6140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7166a2abe24bc2" /><Relationship Type="http://schemas.openxmlformats.org/officeDocument/2006/relationships/notesMaster" Target="/ppt/notesMasters/notesMaster1.xml" Id="R2a346a567b0b49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Основа презентации: olympiad_results.csv и olympiad_data_dictionary.csv. Анализ выполнен по тетрадке пользователя.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Сырые данные содержали 8 037 строк. Удалены 37 полных дубликатов. После этого помечены 72 сессии длительностью меньше минуты, со всеми 12 ответами и максимумом 3 секунды на задание. Аналитическая выборка — 7 928 записей.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Класс 5: n=1 093, средний балл 4,50, завершённость 96,02%. Класс 11: n=1 139, средний балл 6,62, завершённость 96,31%. Межклассные различия описательные и не устанавливают причину.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Completion по заданиям находится в узком диапазоне 95,71–96,39%. Самая низкая точность у задания 1 (29,76%), самая высокая у задания 5 (63,88%). Среднее время максимальное у задания 5 (81,23 сек), минимальное у задания 1 (64,13 сек). Время выполнения само по себе не является показателем сложности.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Региональная сводка после очистки. Средний балл: от 5,38 в Перми до 5,73 в Новосибирске. Точность в таблице — средняя индивидуальная точность из региональной сводки. Число участников не является долей охвата региона без знаменателя общей аудитории.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Автоматический региональный отчёт создаётся функцией regional_report. Пример для Москвы. Условие включения школы: не менее 10 участников. Порог рабочий и не гарантирует статистическую надёжность.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Доли устройств: desktop 59,41%, mobile 35,48%, tablet 5,11%. Средние баллы близки: 5,53 / 5,57 / 5,60. В сессиях без разрывов 82,52%; хотя бы один разрыв — 17,48%. Группы с тремя и четырьмя разрывами малочисленны, причинные выводы не делаются.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Рекомендации основаны на описательных данных. Региональные числа не дают долю охвата, поскольку нет полного числа школьников по регионам. Не приписываем причинные эффекты устройствам или разрывам. Быстрые сессии не интерпретируются как мошенничество или тестирование без подтверждения.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0d18af12c944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9faa728c804036" /><Relationship Type="http://schemas.openxmlformats.org/officeDocument/2006/relationships/slideLayout" Target="/ppt/slideLayouts/slideLayout1.xml" Id="R65cec8a4683a41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cec8a4683a41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ca830306084736" /><Relationship Type="http://schemas.openxmlformats.org/officeDocument/2006/relationships/notesSlide" Target="/ppt/notesSlides/notesSlide1.xml" Id="R53444ff331454c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59e8aa9b6234071" /><Relationship Type="http://schemas.openxmlformats.org/officeDocument/2006/relationships/notesSlide" Target="/ppt/notesSlides/notesSlide2.xml" Id="R3ed46319c32645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c8a8e80fce24a62" /><Relationship Type="http://schemas.openxmlformats.org/officeDocument/2006/relationships/chart" Target="/ppt/slides/charts/chart1.xml" Id="R63e5395579a54c58" /><Relationship Type="http://schemas.openxmlformats.org/officeDocument/2006/relationships/notesSlide" Target="/ppt/notesSlides/notesSlide3.xml" Id="R7301667eb93c49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7b37ded8404592" /><Relationship Type="http://schemas.openxmlformats.org/officeDocument/2006/relationships/chart" Target="/ppt/slides/charts/chart2.xml" Id="R6e3f86d08dcc4af4" /><Relationship Type="http://schemas.openxmlformats.org/officeDocument/2006/relationships/chart" Target="/ppt/slides/charts/chart3.xml" Id="R10e95ceeb6034c0d" /><Relationship Type="http://schemas.openxmlformats.org/officeDocument/2006/relationships/notesSlide" Target="/ppt/notesSlides/notesSlide4.xml" Id="Rb10ca72b99e646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98bbf677c8941a2" /><Relationship Type="http://schemas.openxmlformats.org/officeDocument/2006/relationships/notesSlide" Target="/ppt/notesSlides/notesSlide5.xml" Id="Re2b1f8a4c6b14d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335660e41d42ea" /><Relationship Type="http://schemas.openxmlformats.org/officeDocument/2006/relationships/notesSlide" Target="/ppt/notesSlides/notesSlide6.xml" Id="Rfc7faaa4aa3047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60727d7dc74435" /><Relationship Type="http://schemas.openxmlformats.org/officeDocument/2006/relationships/chart" Target="/ppt/slides/charts/chart4.xml" Id="Re213486632b14653" /><Relationship Type="http://schemas.openxmlformats.org/officeDocument/2006/relationships/chart" Target="/ppt/slides/charts/chart5.xml" Id="Rd3d3fac3645b4037" /><Relationship Type="http://schemas.openxmlformats.org/officeDocument/2006/relationships/notesSlide" Target="/ppt/notesSlides/notesSlide7.xml" Id="R6dd71a69581d47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043610cad4b4739" /><Relationship Type="http://schemas.openxmlformats.org/officeDocument/2006/relationships/notesSlide" Target="/ppt/notesSlides/notesSlide8.xml" Id="Red10f026bb024df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Средний балл из 12</c:v>
          </c:tx>
          <c:spPr>
            <a:solidFill xmlns:a="http://schemas.openxmlformats.org/drawingml/2006/main">
              <a:srgbClr val="3E78A1"/>
            </a:solidFill>
          </c:spPr>
          <c:cat>
            <c:numRef>
              <c:f>'Chart Data'!$A$2:$A$8</c:f>
              <c:numCache>
                <c:formatCode>0.00</c:formatCode>
                <c:ptCount val="7"/>
                <c:pt idx="0">
                  <c:v>5</c:v>
                </c:pt>
                <c:pt idx="1">
                  <c:v>6</c:v>
                </c:pt>
                <c:pt idx="2">
                  <c:v>7</c:v>
                </c:pt>
                <c:pt idx="3">
                  <c:v>8</c:v>
                </c:pt>
                <c:pt idx="4">
                  <c:v>9</c:v>
                </c:pt>
                <c:pt idx="5">
                  <c:v>10</c:v>
                </c:pt>
                <c:pt idx="6">
                  <c:v>11</c:v>
                </c:pt>
              </c:numCache>
            </c:numRef>
          </c:cat>
          <c:val>
            <c:numRef>
              <c:f>'Chart Data'!$B$2:$B$8</c:f>
              <c:numCache>
                <c:formatCode>0.00</c:formatCode>
                <c:ptCount val="7"/>
                <c:pt idx="0">
                  <c:v>4.5</c:v>
                </c:pt>
                <c:pt idx="1">
                  <c:v>4.85</c:v>
                </c:pt>
                <c:pt idx="2">
                  <c:v>5.26</c:v>
                </c:pt>
                <c:pt idx="3">
                  <c:v>5.46</c:v>
                </c:pt>
                <c:pt idx="4">
                  <c:v>5.91</c:v>
                </c:pt>
                <c:pt idx="5">
                  <c:v>6.21</c:v>
                </c:pt>
                <c:pt idx="6">
                  <c:v>6.62</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43746"/>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majorGridlines>
          <c:spPr>
            <a:ln xmlns:a="http://schemas.openxmlformats.org/drawingml/2006/main" w="9525">
              <a:solidFill>
                <a:srgbClr val="D9E1E7"/>
              </a:solidFill>
              <a:prstDash val="solid"/>
            </a:ln>
          </c:spPr>
        </c:majorGridlines>
        <c:title>
          <c:txPr>
            <a:bodyPr xmlns:a="http://schemas.openxmlformats.org/drawingml/2006/main" anchorCtr="1"/>
            <a:lstStyle xmlns:a="http://schemas.openxmlformats.org/drawingml/2006/main"/>
            <a:p xmlns:a="http://schemas.openxmlformats.org/drawingml/2006/main">
              <a:pPr>
                <a:defRPr sz="1125">
                  <a:solidFill>
                    <a:srgbClr val="243746"/>
                  </a:solidFill>
                  <a:latin typeface="Arial"/>
                  <a:ea typeface="Arial"/>
                  <a:cs typeface="Arial"/>
                </a:defRPr>
              </a:pPr>
            </a:p>
          </c:txPr>
        </c:title>
        <c:numFmt formatCode="0.00"/>
        <c:majorTickMark val="none"/>
        <c:minorTickMark val="none"/>
        <c:spPr>
          <a:ln xmlns:a="http://schemas.openxmlformats.org/drawingml/2006/main" w="9525">
            <a:solidFill>
              <a:srgbClr val="D9E1E7"/>
            </a:solidFill>
            <a:prstDash val="solid"/>
          </a:ln>
        </c:spPr>
        <c:txPr>
          <a:bodyPr xmlns:a="http://schemas.openxmlformats.org/drawingml/2006/main" anchorCtr="1"/>
          <a:lstStyle xmlns:a="http://schemas.openxmlformats.org/drawingml/2006/main"/>
          <a:p xmlns:a="http://schemas.openxmlformats.org/drawingml/2006/main">
            <a:pPr>
              <a:defRPr sz="1275">
                <a:solidFill>
                  <a:srgbClr val="5D6B78"/>
                </a:solidFill>
                <a:latin typeface="Arial"/>
                <a:ea typeface="Arial"/>
                <a:cs typeface="Arial"/>
              </a:defRPr>
            </a:pPr>
          </a:p>
        </c:txPr>
        <c:crossAx val="48672768"/>
      </c:catAx>
      <c:valAx>
        <c:axId val="48672768"/>
        <c:scaling>
          <c:orientation val="minMax"/>
          <c:max val="7"/>
        </c:scaling>
        <c:delete val="0"/>
        <c:axPos val="l"/>
        <c:title>
          <c:txPr>
            <a:bodyPr xmlns:a="http://schemas.openxmlformats.org/drawingml/2006/main" anchorCtr="1"/>
            <a:lstStyle xmlns:a="http://schemas.openxmlformats.org/drawingml/2006/main"/>
            <a:p xmlns:a="http://schemas.openxmlformats.org/drawingml/2006/main">
              <a:pPr>
                <a:defRPr sz="1125">
                  <a:solidFill>
                    <a:srgbClr val="243746"/>
                  </a:solidFill>
                  <a:latin typeface="Arial"/>
                  <a:ea typeface="Arial"/>
                  <a:cs typeface="Arial"/>
                </a:defRPr>
              </a:pPr>
            </a:p>
          </c:txPr>
        </c:title>
        <c:numFmt formatCode="General"/>
        <c:majorTickMark val="none"/>
        <c:minorTickMark val="none"/>
        <c:spPr>
          <a:ln xmlns:a="http://schemas.openxmlformats.org/drawingml/2006/main" w="9525">
            <a:solidFill>
              <a:srgbClr val="D9E1E7"/>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374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solidFill>
            <a:srgbClr val="FFFFFF"/>
          </a:solidFill>
        </a:ln>
      </c:spPr>
    </c:plotArea>
    <c:plotVisOnly val="1"/>
  </c:chart>
  <c:spPr>
    <a:solidFill xmlns:a="http://schemas.openxmlformats.org/drawingml/2006/main">
      <a:srgbClr val="FFFFFF"/>
    </a:solidFill>
    <a:ln xmlns:a="http://schemas.openxmlformats.org/drawingml/2006/main" w="0">
      <a:solidFill>
        <a:srgbClr val="FFFFFF"/>
      </a:solid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Доля правильных ответов, %</c:v>
          </c:tx>
          <c:spPr>
            <a:solidFill xmlns:a="http://schemas.openxmlformats.org/drawingml/2006/main">
              <a:srgbClr val="3E78A1"/>
            </a:solidFill>
          </c:spPr>
          <c:cat>
            <c:strRef>
              <c:f>'Chart Data'!$A$2:$A$13</c:f>
              <c:strCache>
                <c:ptCount val="12"/>
                <c:pt idx="0">
                  <c:v>Задание 1</c:v>
                </c:pt>
                <c:pt idx="1">
                  <c:v>Задание 9</c:v>
                </c:pt>
                <c:pt idx="2">
                  <c:v>Задание 3</c:v>
                </c:pt>
                <c:pt idx="3">
                  <c:v>Задание 2</c:v>
                </c:pt>
                <c:pt idx="4">
                  <c:v>Задание 6</c:v>
                </c:pt>
                <c:pt idx="5">
                  <c:v>Задание 11</c:v>
                </c:pt>
                <c:pt idx="6">
                  <c:v>Задание 10</c:v>
                </c:pt>
                <c:pt idx="7">
                  <c:v>Задание 12</c:v>
                </c:pt>
                <c:pt idx="8">
                  <c:v>Задание 7</c:v>
                </c:pt>
                <c:pt idx="9">
                  <c:v>Задание 4</c:v>
                </c:pt>
                <c:pt idx="10">
                  <c:v>Задание 8</c:v>
                </c:pt>
                <c:pt idx="11">
                  <c:v>Задание 5</c:v>
                </c:pt>
              </c:strCache>
            </c:strRef>
          </c:cat>
          <c:val>
            <c:numRef>
              <c:f>'Chart Data'!$B$2:$B$13</c:f>
              <c:numCache>
                <c:formatCode>0.0</c:formatCode>
                <c:ptCount val="12"/>
                <c:pt idx="0">
                  <c:v>29.76</c:v>
                </c:pt>
                <c:pt idx="1">
                  <c:v>31.97</c:v>
                </c:pt>
                <c:pt idx="2">
                  <c:v>33.9</c:v>
                </c:pt>
                <c:pt idx="3">
                  <c:v>37.85</c:v>
                </c:pt>
                <c:pt idx="4">
                  <c:v>45.08</c:v>
                </c:pt>
                <c:pt idx="5">
                  <c:v>46.72</c:v>
                </c:pt>
                <c:pt idx="6">
                  <c:v>53.26</c:v>
                </c:pt>
                <c:pt idx="7">
                  <c:v>57.21</c:v>
                </c:pt>
                <c:pt idx="8">
                  <c:v>58.75</c:v>
                </c:pt>
                <c:pt idx="9">
                  <c:v>59.23</c:v>
                </c:pt>
                <c:pt idx="10">
                  <c:v>59.83</c:v>
                </c:pt>
                <c:pt idx="11">
                  <c:v>63.88</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43746"/>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D9E1E7"/>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243746"/>
                    </a:solidFill>
                    <a:latin typeface="Arial"/>
                    <a:ea typeface="Arial"/>
                    <a:cs typeface="Arial"/>
                  </a:rPr>
                  <a:t>Доля правильных ответов, %</a:t>
                </a:r>
              </a:p>
            </c:rich>
          </c:tx>
          <c:overlay val="0"/>
          <c:txPr>
            <a:bodyPr xmlns:a="http://schemas.openxmlformats.org/drawingml/2006/main" anchorCtr="1"/>
            <a:lstStyle xmlns:a="http://schemas.openxmlformats.org/drawingml/2006/main"/>
            <a:p xmlns:a="http://schemas.openxmlformats.org/drawingml/2006/main">
              <a:pPr>
                <a:defRPr sz="1125">
                  <a:solidFill>
                    <a:srgbClr val="243746"/>
                  </a:solidFill>
                  <a:latin typeface="Arial"/>
                  <a:ea typeface="Arial"/>
                  <a:cs typeface="Arial"/>
                </a:defRPr>
              </a:pPr>
            </a:p>
          </c:txPr>
        </c:title>
        <c:numFmt formatCode="0.0"/>
        <c:majorTickMark val="none"/>
        <c:minorTickMark val="none"/>
        <c:spPr>
          <a:ln xmlns:a="http://schemas.openxmlformats.org/drawingml/2006/main" w="9525">
            <a:solidFill>
              <a:srgbClr val="D9E1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5D6B78"/>
                </a:solidFill>
                <a:latin typeface="Arial"/>
                <a:ea typeface="Arial"/>
                <a:cs typeface="Arial"/>
              </a:defRPr>
            </a:pPr>
          </a:p>
        </c:txPr>
        <c:crossAx val="48672768"/>
      </c:catAx>
      <c:valAx>
        <c:axId val="48672768"/>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125">
                  <a:solidFill>
                    <a:srgbClr val="243746"/>
                  </a:solidFill>
                  <a:latin typeface="Arial"/>
                  <a:ea typeface="Arial"/>
                  <a:cs typeface="Arial"/>
                </a:defRPr>
              </a:pPr>
            </a:p>
          </c:txPr>
        </c:title>
        <c:numFmt formatCode="General"/>
        <c:majorTickMark val="none"/>
        <c:minorTickMark val="none"/>
        <c:spPr>
          <a:ln xmlns:a="http://schemas.openxmlformats.org/drawingml/2006/main" w="9525">
            <a:solidFill>
              <a:srgbClr val="D9E1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24374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solidFill>
            <a:srgbClr val="FFFFFF"/>
          </a:solidFill>
        </a:ln>
      </c:spPr>
    </c:plotArea>
    <c:plotVisOnly val="1"/>
  </c:chart>
  <c:spPr>
    <a:solidFill xmlns:a="http://schemas.openxmlformats.org/drawingml/2006/main">
      <a:srgbClr val="FFFFFF"/>
    </a:solidFill>
    <a:ln xmlns:a="http://schemas.openxmlformats.org/drawingml/2006/main" w="0">
      <a:solidFill>
        <a:srgbClr val="FFFFFF"/>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Среднее время, секунды</c:v>
          </c:tx>
          <c:spPr>
            <a:solidFill xmlns:a="http://schemas.openxmlformats.org/drawingml/2006/main">
              <a:srgbClr val="E28A24"/>
            </a:solidFill>
          </c:spPr>
          <c:cat>
            <c:strRef>
              <c:f>'Chart Data'!$A$2:$A$13</c:f>
              <c:strCache>
                <c:ptCount val="12"/>
                <c:pt idx="0">
                  <c:v>Задание 1</c:v>
                </c:pt>
                <c:pt idx="1">
                  <c:v>Задание 9</c:v>
                </c:pt>
                <c:pt idx="2">
                  <c:v>Задание 3</c:v>
                </c:pt>
                <c:pt idx="3">
                  <c:v>Задание 2</c:v>
                </c:pt>
                <c:pt idx="4">
                  <c:v>Задание 6</c:v>
                </c:pt>
                <c:pt idx="5">
                  <c:v>Задание 11</c:v>
                </c:pt>
                <c:pt idx="6">
                  <c:v>Задание 10</c:v>
                </c:pt>
                <c:pt idx="7">
                  <c:v>Задание 12</c:v>
                </c:pt>
                <c:pt idx="8">
                  <c:v>Задание 7</c:v>
                </c:pt>
                <c:pt idx="9">
                  <c:v>Задание 4</c:v>
                </c:pt>
                <c:pt idx="10">
                  <c:v>Задание 8</c:v>
                </c:pt>
                <c:pt idx="11">
                  <c:v>Задание 5</c:v>
                </c:pt>
              </c:strCache>
            </c:strRef>
          </c:cat>
          <c:val>
            <c:numRef>
              <c:f>'Chart Data'!$B$2:$B$13</c:f>
              <c:numCache>
                <c:formatCode>0.0</c:formatCode>
                <c:ptCount val="12"/>
                <c:pt idx="0">
                  <c:v>64.13</c:v>
                </c:pt>
                <c:pt idx="1">
                  <c:v>65.9</c:v>
                </c:pt>
                <c:pt idx="2">
                  <c:v>66.05</c:v>
                </c:pt>
                <c:pt idx="3">
                  <c:v>69.14</c:v>
                </c:pt>
                <c:pt idx="4">
                  <c:v>71.71</c:v>
                </c:pt>
                <c:pt idx="5">
                  <c:v>72.75</c:v>
                </c:pt>
                <c:pt idx="6">
                  <c:v>75.88</c:v>
                </c:pt>
                <c:pt idx="7">
                  <c:v>77.85</c:v>
                </c:pt>
                <c:pt idx="8">
                  <c:v>79.07</c:v>
                </c:pt>
                <c:pt idx="9">
                  <c:v>78.79</c:v>
                </c:pt>
                <c:pt idx="10">
                  <c:v>79.55</c:v>
                </c:pt>
                <c:pt idx="11">
                  <c:v>81.23</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43746"/>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D9E1E7"/>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243746"/>
                    </a:solidFill>
                    <a:latin typeface="Arial"/>
                    <a:ea typeface="Arial"/>
                    <a:cs typeface="Arial"/>
                  </a:rPr>
                  <a:t>Среднее время, секунды</a:t>
                </a:r>
              </a:p>
            </c:rich>
          </c:tx>
          <c:overlay val="0"/>
          <c:txPr>
            <a:bodyPr xmlns:a="http://schemas.openxmlformats.org/drawingml/2006/main" anchorCtr="1"/>
            <a:lstStyle xmlns:a="http://schemas.openxmlformats.org/drawingml/2006/main"/>
            <a:p xmlns:a="http://schemas.openxmlformats.org/drawingml/2006/main">
              <a:pPr>
                <a:defRPr sz="1125">
                  <a:solidFill>
                    <a:srgbClr val="243746"/>
                  </a:solidFill>
                  <a:latin typeface="Arial"/>
                  <a:ea typeface="Arial"/>
                  <a:cs typeface="Arial"/>
                </a:defRPr>
              </a:pPr>
            </a:p>
          </c:txPr>
        </c:title>
        <c:numFmt formatCode="0.0"/>
        <c:majorTickMark val="none"/>
        <c:minorTickMark val="none"/>
        <c:spPr>
          <a:ln xmlns:a="http://schemas.openxmlformats.org/drawingml/2006/main" w="9525">
            <a:solidFill>
              <a:srgbClr val="D9E1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5D6B78"/>
                </a:solidFill>
                <a:latin typeface="Arial"/>
                <a:ea typeface="Arial"/>
                <a:cs typeface="Arial"/>
              </a:defRPr>
            </a:pPr>
          </a:p>
        </c:txPr>
        <c:crossAx val="48672768"/>
      </c:catAx>
      <c:valAx>
        <c:axId val="48672768"/>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125">
                  <a:solidFill>
                    <a:srgbClr val="243746"/>
                  </a:solidFill>
                  <a:latin typeface="Arial"/>
                  <a:ea typeface="Arial"/>
                  <a:cs typeface="Arial"/>
                </a:defRPr>
              </a:pPr>
            </a:p>
          </c:txPr>
        </c:title>
        <c:numFmt formatCode="General"/>
        <c:majorTickMark val="none"/>
        <c:minorTickMark val="none"/>
        <c:spPr>
          <a:ln xmlns:a="http://schemas.openxmlformats.org/drawingml/2006/main" w="9525">
            <a:solidFill>
              <a:srgbClr val="D9E1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24374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solidFill>
            <a:srgbClr val="FFFFFF"/>
          </a:solidFill>
        </a:ln>
      </c:spPr>
    </c:plotArea>
    <c:plotVisOnly val="1"/>
  </c:chart>
  <c:spPr>
    <a:solidFill xmlns:a="http://schemas.openxmlformats.org/drawingml/2006/main">
      <a:srgbClr val="FFFFFF"/>
    </a:solidFill>
    <a:ln xmlns:a="http://schemas.openxmlformats.org/drawingml/2006/main" w="0">
      <a:solidFill>
        <a:srgbClr val="FFFFFF"/>
      </a:solid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Доля участников, %</c:v>
          </c:tx>
          <c:spPr>
            <a:solidFill xmlns:a="http://schemas.openxmlformats.org/drawingml/2006/main">
              <a:srgbClr val="3E78A1"/>
            </a:solidFill>
          </c:spPr>
          <c:cat>
            <c:strRef>
              <c:f>'Chart Data'!$A$2:$A$4</c:f>
              <c:strCache>
                <c:ptCount val="3"/>
                <c:pt idx="0">
                  <c:v>Компьютер</c:v>
                </c:pt>
                <c:pt idx="1">
                  <c:v>Телефон</c:v>
                </c:pt>
                <c:pt idx="2">
                  <c:v>Планшет</c:v>
                </c:pt>
              </c:strCache>
            </c:strRef>
          </c:cat>
          <c:val>
            <c:numRef>
              <c:f>'Chart Data'!$B$2:$B$4</c:f>
              <c:numCache>
                <c:formatCode>0.0</c:formatCode>
                <c:ptCount val="3"/>
                <c:pt idx="0">
                  <c:v>59.41</c:v>
                </c:pt>
                <c:pt idx="1">
                  <c:v>35.48</c:v>
                </c:pt>
                <c:pt idx="2">
                  <c:v>5.11</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43746"/>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majorGridlines>
          <c:spPr>
            <a:ln xmlns:a="http://schemas.openxmlformats.org/drawingml/2006/main" w="9525">
              <a:solidFill>
                <a:srgbClr val="D9E1E7"/>
              </a:solidFill>
              <a:prstDash val="solid"/>
            </a:ln>
          </c:spPr>
        </c:majorGridlines>
        <c:title>
          <c:txPr>
            <a:bodyPr xmlns:a="http://schemas.openxmlformats.org/drawingml/2006/main" anchorCtr="1"/>
            <a:lstStyle xmlns:a="http://schemas.openxmlformats.org/drawingml/2006/main"/>
            <a:p xmlns:a="http://schemas.openxmlformats.org/drawingml/2006/main">
              <a:pPr>
                <a:defRPr sz="1125">
                  <a:solidFill>
                    <a:srgbClr val="243746"/>
                  </a:solidFill>
                  <a:latin typeface="Arial"/>
                  <a:ea typeface="Arial"/>
                  <a:cs typeface="Arial"/>
                </a:defRPr>
              </a:pPr>
            </a:p>
          </c:txPr>
        </c:title>
        <c:numFmt formatCode="0.0"/>
        <c:majorTickMark val="none"/>
        <c:minorTickMark val="none"/>
        <c:spPr>
          <a:ln xmlns:a="http://schemas.openxmlformats.org/drawingml/2006/main" w="9525">
            <a:solidFill>
              <a:srgbClr val="D9E1E7"/>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8"/>
                </a:solidFill>
                <a:latin typeface="Arial"/>
                <a:ea typeface="Arial"/>
                <a:cs typeface="Arial"/>
              </a:defRPr>
            </a:pPr>
          </a:p>
        </c:txPr>
        <c:crossAx val="48672768"/>
      </c:catAx>
      <c:valAx>
        <c:axId val="48672768"/>
        <c:scaling>
          <c:orientation val="minMax"/>
          <c:max val="70"/>
        </c:scaling>
        <c:delete val="0"/>
        <c:axPos val="l"/>
        <c:title>
          <c:txPr>
            <a:bodyPr xmlns:a="http://schemas.openxmlformats.org/drawingml/2006/main" anchorCtr="1"/>
            <a:lstStyle xmlns:a="http://schemas.openxmlformats.org/drawingml/2006/main"/>
            <a:p xmlns:a="http://schemas.openxmlformats.org/drawingml/2006/main">
              <a:pPr>
                <a:defRPr sz="1125">
                  <a:solidFill>
                    <a:srgbClr val="243746"/>
                  </a:solidFill>
                  <a:latin typeface="Arial"/>
                  <a:ea typeface="Arial"/>
                  <a:cs typeface="Arial"/>
                </a:defRPr>
              </a:pPr>
            </a:p>
          </c:txPr>
        </c:title>
        <c:numFmt formatCode="General"/>
        <c:majorTickMark val="none"/>
        <c:minorTickMark val="none"/>
        <c:spPr>
          <a:ln xmlns:a="http://schemas.openxmlformats.org/drawingml/2006/main" w="9525">
            <a:solidFill>
              <a:srgbClr val="D9E1E7"/>
            </a:solidFill>
            <a:prstDash val="solid"/>
          </a:ln>
        </c:spPr>
        <c:txPr>
          <a:bodyPr xmlns:a="http://schemas.openxmlformats.org/drawingml/2006/main" anchorCtr="1"/>
          <a:lstStyle xmlns:a="http://schemas.openxmlformats.org/drawingml/2006/main"/>
          <a:p xmlns:a="http://schemas.openxmlformats.org/drawingml/2006/main">
            <a:pPr>
              <a:defRPr sz="1125">
                <a:solidFill>
                  <a:srgbClr val="24374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solidFill>
            <a:srgbClr val="FFFFFF"/>
          </a:solidFill>
        </a:ln>
      </c:spPr>
    </c:plotArea>
    <c:plotVisOnly val="1"/>
  </c:chart>
  <c:spPr>
    <a:solidFill xmlns:a="http://schemas.openxmlformats.org/drawingml/2006/main">
      <a:srgbClr val="FFFFFF"/>
    </a:solidFill>
    <a:ln xmlns:a="http://schemas.openxmlformats.org/drawingml/2006/main" w="0">
      <a:solidFill>
        <a:srgbClr val="FFFFFF"/>
      </a:solid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Доля сессий, %</c:v>
          </c:tx>
          <c:spPr>
            <a:solidFill xmlns:a="http://schemas.openxmlformats.org/drawingml/2006/main">
              <a:srgbClr val="E28A24"/>
            </a:solidFill>
          </c:spPr>
          <c:cat>
            <c:numRef>
              <c:f>'Chart Data'!$A$2:$A$6</c:f>
              <c:numCache>
                <c:formatCode>0.00</c:formatCode>
                <c:ptCount val="5"/>
                <c:pt idx="0">
                  <c:v>0</c:v>
                </c:pt>
                <c:pt idx="1">
                  <c:v>1</c:v>
                </c:pt>
                <c:pt idx="2">
                  <c:v>2</c:v>
                </c:pt>
                <c:pt idx="3">
                  <c:v>3</c:v>
                </c:pt>
                <c:pt idx="4">
                  <c:v>4</c:v>
                </c:pt>
              </c:numCache>
            </c:numRef>
          </c:cat>
          <c:val>
            <c:numRef>
              <c:f>'Chart Data'!$B$2:$B$6</c:f>
              <c:numCache>
                <c:formatCode>0.00</c:formatCode>
                <c:ptCount val="5"/>
                <c:pt idx="0">
                  <c:v>82.52</c:v>
                </c:pt>
                <c:pt idx="1">
                  <c:v>15.8</c:v>
                </c:pt>
                <c:pt idx="2">
                  <c:v>1.54</c:v>
                </c:pt>
                <c:pt idx="3">
                  <c:v>0.13</c:v>
                </c:pt>
                <c:pt idx="4">
                  <c:v>0.01</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43746"/>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majorGridlines>
          <c:spPr>
            <a:ln xmlns:a="http://schemas.openxmlformats.org/drawingml/2006/main" w="9525">
              <a:solidFill>
                <a:srgbClr val="D9E1E7"/>
              </a:solidFill>
              <a:prstDash val="solid"/>
            </a:ln>
          </c:spPr>
        </c:majorGridlines>
        <c:title>
          <c:txPr>
            <a:bodyPr xmlns:a="http://schemas.openxmlformats.org/drawingml/2006/main" anchorCtr="1"/>
            <a:lstStyle xmlns:a="http://schemas.openxmlformats.org/drawingml/2006/main"/>
            <a:p xmlns:a="http://schemas.openxmlformats.org/drawingml/2006/main">
              <a:pPr>
                <a:defRPr sz="1125">
                  <a:solidFill>
                    <a:srgbClr val="243746"/>
                  </a:solidFill>
                  <a:latin typeface="Arial"/>
                  <a:ea typeface="Arial"/>
                  <a:cs typeface="Arial"/>
                </a:defRPr>
              </a:pPr>
            </a:p>
          </c:txPr>
        </c:title>
        <c:numFmt formatCode="0.00"/>
        <c:majorTickMark val="none"/>
        <c:minorTickMark val="none"/>
        <c:spPr>
          <a:ln xmlns:a="http://schemas.openxmlformats.org/drawingml/2006/main" w="9525">
            <a:solidFill>
              <a:srgbClr val="D9E1E7"/>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8"/>
                </a:solidFill>
                <a:latin typeface="Arial"/>
                <a:ea typeface="Arial"/>
                <a:cs typeface="Arial"/>
              </a:defRPr>
            </a:pPr>
          </a:p>
        </c:txPr>
        <c:crossAx val="48672768"/>
      </c:catAx>
      <c:valAx>
        <c:axId val="48672768"/>
        <c:scaling>
          <c:orientation val="minMax"/>
          <c:max val="90"/>
        </c:scaling>
        <c:delete val="0"/>
        <c:axPos val="l"/>
        <c:title>
          <c:txPr>
            <a:bodyPr xmlns:a="http://schemas.openxmlformats.org/drawingml/2006/main" anchorCtr="1"/>
            <a:lstStyle xmlns:a="http://schemas.openxmlformats.org/drawingml/2006/main"/>
            <a:p xmlns:a="http://schemas.openxmlformats.org/drawingml/2006/main">
              <a:pPr>
                <a:defRPr sz="1125">
                  <a:solidFill>
                    <a:srgbClr val="243746"/>
                  </a:solidFill>
                  <a:latin typeface="Arial"/>
                  <a:ea typeface="Arial"/>
                  <a:cs typeface="Arial"/>
                </a:defRPr>
              </a:pPr>
            </a:p>
          </c:txPr>
        </c:title>
        <c:numFmt formatCode="General"/>
        <c:majorTickMark val="none"/>
        <c:minorTickMark val="none"/>
        <c:spPr>
          <a:ln xmlns:a="http://schemas.openxmlformats.org/drawingml/2006/main" w="9525">
            <a:solidFill>
              <a:srgbClr val="D9E1E7"/>
            </a:solidFill>
            <a:prstDash val="solid"/>
          </a:ln>
        </c:spPr>
        <c:txPr>
          <a:bodyPr xmlns:a="http://schemas.openxmlformats.org/drawingml/2006/main" anchorCtr="1"/>
          <a:lstStyle xmlns:a="http://schemas.openxmlformats.org/drawingml/2006/main"/>
          <a:p xmlns:a="http://schemas.openxmlformats.org/drawingml/2006/main">
            <a:pPr>
              <a:defRPr sz="1125">
                <a:solidFill>
                  <a:srgbClr val="24374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solidFill>
            <a:srgbClr val="FFFFFF"/>
          </a:solidFill>
        </a:ln>
      </c:spPr>
    </c:plotArea>
    <c:plotVisOnly val="1"/>
  </c:chart>
  <c:spPr>
    <a:solidFill xmlns:a="http://schemas.openxmlformats.org/drawingml/2006/main">
      <a:srgbClr val="FFFFFF"/>
    </a:solidFill>
    <a:ln xmlns:a="http://schemas.openxmlformats.org/drawingml/2006/main" w="0">
      <a:solidFill>
        <a:srgbClr val="FFFFFF"/>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24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AE6C44-CB5A-47B8-9845-CD582C361BD2}"/>
              </a:ext>
            </a:extLst>
          </p:cNvPr>
          <p:cNvSpPr>
            <a:spLocks xmlns:a="http://schemas.openxmlformats.org/drawingml/2006/main" noGrp="1"/>
          </p:cNvSpPr>
          <p:nvPr/>
        </p:nvSpPr>
        <p:spPr>
          <a:xfrm xmlns:a="http://schemas.openxmlformats.org/drawingml/2006/main">
            <a:off x="781050" y="1352550"/>
            <a:ext cx="1009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Результаты</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онлайн-олимпиады</a:t>
            </a:r>
          </a:p>
        </p:txBody>
      </p:sp>
      <p:sp>
        <p:nvSpPr>
          <p:cNvPr id="2" name="">
            <a:extLst xmlns:a="http://schemas.openxmlformats.org/drawingml/2006/main">
              <a:ext uri="{FF2B5EF4-FFF2-40B4-BE49-F238E27FC236}">
                <a16:creationId xmlns:a16="http://schemas.microsoft.com/office/drawing/2014/main" id="{DCAD467F-BFE1-444A-8C7C-1AFD7D32D4CC}"/>
              </a:ext>
            </a:extLst>
          </p:cNvPr>
          <p:cNvSpPr>
            <a:spLocks xmlns:a="http://schemas.openxmlformats.org/drawingml/2006/main" noGrp="1"/>
          </p:cNvSpPr>
          <p:nvPr/>
        </p:nvSpPr>
        <p:spPr>
          <a:xfrm xmlns:a="http://schemas.openxmlformats.org/drawingml/2006/main">
            <a:off x="819150" y="323850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2025" b="0">
                <a:solidFill>
                  <a:srgbClr val="D9E8F1"/>
                </a:solidFill>
                <a:latin typeface="Arial"/>
                <a:ea typeface="Arial"/>
                <a:cs typeface="Arial"/>
              </a:defRPr>
            </a:pPr>
            <a:r>
              <a:rPr sz="2025" b="0">
                <a:solidFill>
                  <a:srgbClr val="D9E8F1"/>
                </a:solidFill>
                <a:latin typeface="Arial"/>
                <a:ea typeface="Arial"/>
                <a:cs typeface="Arial"/>
              </a:rPr>
              <a:t>Анализ участия, сложности заданий и региональных различий</a:t>
            </a:r>
          </a:p>
        </p:txBody>
      </p:sp>
      <p:sp>
        <p:nvSpPr>
          <p:cNvPr id="3" name="">
            <a:extLst xmlns:a="http://schemas.openxmlformats.org/drawingml/2006/main">
              <a:ext uri="{FF2B5EF4-FFF2-40B4-BE49-F238E27FC236}">
                <a16:creationId xmlns:a16="http://schemas.microsoft.com/office/drawing/2014/main" id="{B4F75BA9-9092-4E19-B4CB-84D477992725}"/>
              </a:ext>
            </a:extLst>
          </p:cNvPr>
          <p:cNvSpPr>
            <a:spLocks xmlns:a="http://schemas.openxmlformats.org/drawingml/2006/main" noGrp="1"/>
          </p:cNvSpPr>
          <p:nvPr/>
        </p:nvSpPr>
        <p:spPr>
          <a:xfrm xmlns:a="http://schemas.openxmlformats.org/drawingml/2006/main">
            <a:off x="819150" y="474345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7 928 участников  |  10 регионов  |  12 заданий</a:t>
            </a:r>
          </a:p>
        </p:txBody>
      </p:sp>
      <p:sp>
        <p:nvSpPr>
          <p:cNvPr id="4" name="">
            <a:extLst xmlns:a="http://schemas.openxmlformats.org/drawingml/2006/main">
              <a:ext uri="{FF2B5EF4-FFF2-40B4-BE49-F238E27FC236}">
                <a16:creationId xmlns:a16="http://schemas.microsoft.com/office/drawing/2014/main" id="{8BE61023-AC0D-49C6-8270-EDA5DBE9ADEA}"/>
              </a:ext>
            </a:extLst>
          </p:cNvPr>
          <p:cNvSpPr>
            <a:spLocks xmlns:a="http://schemas.openxmlformats.org/drawingml/2006/main" noGrp="1"/>
          </p:cNvSpPr>
          <p:nvPr/>
        </p:nvSpPr>
        <p:spPr>
          <a:xfrm xmlns:a="http://schemas.openxmlformats.org/drawingml/2006/main">
            <a:off x="819150" y="53149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350" b="0">
                <a:solidFill>
                  <a:srgbClr val="C4D3DE"/>
                </a:solidFill>
                <a:latin typeface="Arial"/>
                <a:ea typeface="Arial"/>
                <a:cs typeface="Arial"/>
              </a:defRPr>
            </a:pPr>
            <a:r>
              <a:rPr sz="1350" b="0">
                <a:solidFill>
                  <a:srgbClr val="C4D3DE"/>
                </a:solidFill>
                <a:latin typeface="Arial"/>
                <a:ea typeface="Arial"/>
                <a:cs typeface="Arial"/>
              </a:rPr>
              <a:t>Данные олимпиады, апрель 2026</a:t>
            </a:r>
          </a:p>
        </p:txBody>
      </p:sp>
    </p:spTree>
    <p:extLst>
      <p:ext uri="{BB962C8B-B14F-4D97-AF65-F5344CB8AC3E}">
        <p14:creationId xmlns:p14="http://schemas.microsoft.com/office/powerpoint/2010/main" val="19171762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7CA312B-8B5A-405C-8556-D1C0926A509C}"/>
              </a:ext>
            </a:extLst>
          </p:cNvPr>
          <p:cNvSpPr>
            <a:spLocks xmlns:a="http://schemas.openxmlformats.org/drawingml/2006/main" noGrp="1"/>
          </p:cNvSpPr>
          <p:nvPr/>
        </p:nvSpPr>
        <p:spPr>
          <a:xfrm xmlns:a="http://schemas.openxmlformats.org/drawingml/2006/main">
            <a:off x="609600" y="3238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3000" b="1">
                <a:solidFill>
                  <a:srgbClr val="17324D"/>
                </a:solidFill>
                <a:latin typeface="Arial"/>
                <a:ea typeface="Arial"/>
                <a:cs typeface="Arial"/>
              </a:defRPr>
            </a:pPr>
            <a:r>
              <a:rPr sz="3000" b="1">
                <a:solidFill>
                  <a:srgbClr val="17324D"/>
                </a:solidFill>
                <a:latin typeface="Arial"/>
                <a:ea typeface="Arial"/>
                <a:cs typeface="Arial"/>
              </a:rPr>
              <a:t>Очистка сохранила 7 928 пригодных прохождений</a:t>
            </a:r>
          </a:p>
        </p:txBody>
      </p:sp>
      <p:sp>
        <p:nvSpPr>
          <p:cNvPr id="2" name="">
            <a:extLst xmlns:a="http://schemas.openxmlformats.org/drawingml/2006/main">
              <a:ext uri="{FF2B5EF4-FFF2-40B4-BE49-F238E27FC236}">
                <a16:creationId xmlns:a16="http://schemas.microsoft.com/office/drawing/2014/main" id="{84C60C44-73E0-4A5B-A1A2-054D6041A16E}"/>
              </a:ext>
            </a:extLst>
          </p:cNvPr>
          <p:cNvSpPr>
            <a:spLocks xmlns:a="http://schemas.openxmlformats.org/drawingml/2006/main" noGrp="1"/>
          </p:cNvSpPr>
          <p:nvPr/>
        </p:nvSpPr>
        <p:spPr>
          <a:xfrm xmlns:a="http://schemas.openxmlformats.org/drawingml/2006/main">
            <a:off x="628650" y="91440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575" b="0">
                <a:solidFill>
                  <a:srgbClr val="5D6B78"/>
                </a:solidFill>
                <a:latin typeface="Arial"/>
                <a:ea typeface="Arial"/>
                <a:cs typeface="Arial"/>
              </a:defRPr>
            </a:pPr>
            <a:r>
              <a:rPr sz="1575" b="0">
                <a:solidFill>
                  <a:srgbClr val="5D6B78"/>
                </a:solidFill>
                <a:latin typeface="Arial"/>
                <a:ea typeface="Arial"/>
                <a:cs typeface="Arial"/>
              </a:rPr>
              <a:t>Из 8 037 исходных строк сформирована аналитическая выборка из 10 регионов и 590 школ.</a:t>
            </a:r>
          </a:p>
        </p:txBody>
      </p:sp>
      <p:sp>
        <p:nvSpPr>
          <p:cNvPr id="3" name="">
            <a:extLst xmlns:a="http://schemas.openxmlformats.org/drawingml/2006/main">
              <a:ext uri="{FF2B5EF4-FFF2-40B4-BE49-F238E27FC236}">
                <a16:creationId xmlns:a16="http://schemas.microsoft.com/office/drawing/2014/main" id="{E3FA60D7-A6A7-4C66-85B1-765CDBE4194F}"/>
              </a:ext>
            </a:extLst>
          </p:cNvPr>
          <p:cNvSpPr>
            <a:spLocks xmlns:a="http://schemas.openxmlformats.org/drawingml/2006/main" noGrp="1"/>
          </p:cNvSpPr>
          <p:nvPr/>
        </p:nvSpPr>
        <p:spPr>
          <a:xfrm xmlns:a="http://schemas.openxmlformats.org/drawingml/2006/main">
            <a:off x="609600" y="65151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66667"/>
          </a:bodyPr>
          <a:lstStyle xmlns:a="http://schemas.openxmlformats.org/drawingml/2006/main"/>
          <a:p xmlns:a="http://schemas.openxmlformats.org/drawingml/2006/main">
            <a:pPr algn="l">
              <a:defRPr sz="975" b="0">
                <a:solidFill>
                  <a:srgbClr val="5D6B78"/>
                </a:solidFill>
                <a:latin typeface="Arial"/>
                <a:ea typeface="Arial"/>
                <a:cs typeface="Arial"/>
              </a:defRPr>
            </a:pPr>
            <a:r>
              <a:rPr sz="975" b="0">
                <a:solidFill>
                  <a:srgbClr val="5D6B78"/>
                </a:solidFill>
                <a:latin typeface="Arial"/>
                <a:ea typeface="Arial"/>
                <a:cs typeface="Arial"/>
              </a:rPr>
              <a:t>Источник: результаты олимпиады и словарь данных</a:t>
            </a:r>
          </a:p>
        </p:txBody>
      </p:sp>
      <p:sp>
        <p:nvSpPr>
          <p:cNvPr id="4" name="">
            <a:extLst xmlns:a="http://schemas.openxmlformats.org/drawingml/2006/main">
              <a:ext uri="{FF2B5EF4-FFF2-40B4-BE49-F238E27FC236}">
                <a16:creationId xmlns:a16="http://schemas.microsoft.com/office/drawing/2014/main" id="{3CA90920-88AB-49C3-B0D6-9625E43318D7}"/>
              </a:ext>
            </a:extLst>
          </p:cNvPr>
          <p:cNvSpPr>
            <a:spLocks xmlns:a="http://schemas.openxmlformats.org/drawingml/2006/main" noGrp="1"/>
          </p:cNvSpPr>
          <p:nvPr/>
        </p:nvSpPr>
        <p:spPr>
          <a:xfrm xmlns:a="http://schemas.openxmlformats.org/drawingml/2006/main">
            <a:off x="800100" y="1809750"/>
            <a:ext cx="285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3900" b="1">
                <a:solidFill>
                  <a:srgbClr val="17324D"/>
                </a:solidFill>
                <a:latin typeface="Arial"/>
                <a:ea typeface="Arial"/>
                <a:cs typeface="Arial"/>
              </a:defRPr>
            </a:pPr>
            <a:r>
              <a:rPr sz="3900" b="1">
                <a:solidFill>
                  <a:srgbClr val="17324D"/>
                </a:solidFill>
                <a:latin typeface="Arial"/>
                <a:ea typeface="Arial"/>
                <a:cs typeface="Arial"/>
              </a:rPr>
              <a:t>8 037</a:t>
            </a:r>
          </a:p>
        </p:txBody>
      </p:sp>
      <p:sp>
        <p:nvSpPr>
          <p:cNvPr id="5" name="">
            <a:extLst xmlns:a="http://schemas.openxmlformats.org/drawingml/2006/main">
              <a:ext uri="{FF2B5EF4-FFF2-40B4-BE49-F238E27FC236}">
                <a16:creationId xmlns:a16="http://schemas.microsoft.com/office/drawing/2014/main" id="{16EEDB40-33AF-4E9C-A2C4-6D08CD59223A}"/>
              </a:ext>
            </a:extLst>
          </p:cNvPr>
          <p:cNvSpPr>
            <a:spLocks xmlns:a="http://schemas.openxmlformats.org/drawingml/2006/main" noGrp="1"/>
          </p:cNvSpPr>
          <p:nvPr/>
        </p:nvSpPr>
        <p:spPr>
          <a:xfrm xmlns:a="http://schemas.openxmlformats.org/drawingml/2006/main">
            <a:off x="819150" y="25146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650" b="0">
                <a:solidFill>
                  <a:srgbClr val="243746"/>
                </a:solidFill>
                <a:latin typeface="Arial"/>
                <a:ea typeface="Arial"/>
                <a:cs typeface="Arial"/>
              </a:defRPr>
            </a:pPr>
            <a:r>
              <a:rPr sz="1650" b="0">
                <a:solidFill>
                  <a:srgbClr val="243746"/>
                </a:solidFill>
                <a:latin typeface="Arial"/>
                <a:ea typeface="Arial"/>
                <a:cs typeface="Arial"/>
              </a:rPr>
              <a:t>строк в исходной выгрузке</a:t>
            </a:r>
          </a:p>
        </p:txBody>
      </p:sp>
      <p:sp>
        <p:nvSpPr>
          <p:cNvPr id="6" name="">
            <a:extLst xmlns:a="http://schemas.openxmlformats.org/drawingml/2006/main">
              <a:ext uri="{FF2B5EF4-FFF2-40B4-BE49-F238E27FC236}">
                <a16:creationId xmlns:a16="http://schemas.microsoft.com/office/drawing/2014/main" id="{E47DB467-EF26-4385-99AF-04036023A74F}"/>
              </a:ext>
            </a:extLst>
          </p:cNvPr>
          <p:cNvSpPr>
            <a:spLocks xmlns:a="http://schemas.openxmlformats.org/drawingml/2006/main" noGrp="1"/>
          </p:cNvSpPr>
          <p:nvPr/>
        </p:nvSpPr>
        <p:spPr>
          <a:xfrm xmlns:a="http://schemas.openxmlformats.org/drawingml/2006/main">
            <a:off x="819150" y="3162300"/>
            <a:ext cx="4476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650" b="0">
                <a:solidFill>
                  <a:srgbClr val="243746"/>
                </a:solidFill>
                <a:latin typeface="Arial"/>
                <a:ea typeface="Arial"/>
                <a:cs typeface="Arial"/>
              </a:defRPr>
            </a:pPr>
            <a:r>
              <a:rPr sz="1650" b="0">
                <a:solidFill>
                  <a:srgbClr val="243746"/>
                </a:solidFill>
                <a:latin typeface="Arial"/>
                <a:ea typeface="Arial"/>
                <a:cs typeface="Arial"/>
              </a:rPr>
              <a:t>37 точных дублей удалено.</a:t>
            </a:r>
          </a:p>
          <a:p xmlns:a="http://schemas.openxmlformats.org/drawingml/2006/main">
            <a:pPr algn="l">
              <a:defRPr sz="1650" b="0">
                <a:solidFill>
                  <a:srgbClr val="243746"/>
                </a:solidFill>
                <a:latin typeface="Arial"/>
                <a:ea typeface="Arial"/>
                <a:cs typeface="Arial"/>
              </a:defRPr>
            </a:pPr>
            <a:r>
              <a:rPr sz="1650" b="0">
                <a:solidFill>
                  <a:srgbClr val="243746"/>
                </a:solidFill>
                <a:latin typeface="Arial"/>
                <a:ea typeface="Arial"/>
                <a:cs typeface="Arial"/>
              </a:rPr>
              <a:t>После дедупликации осталось 8 000 уникальных записей.</a:t>
            </a:r>
          </a:p>
        </p:txBody>
      </p:sp>
      <p:sp>
        <p:nvSpPr>
          <p:cNvPr id="7" name="">
            <a:extLst xmlns:a="http://schemas.openxmlformats.org/drawingml/2006/main">
              <a:ext uri="{FF2B5EF4-FFF2-40B4-BE49-F238E27FC236}">
                <a16:creationId xmlns:a16="http://schemas.microsoft.com/office/drawing/2014/main" id="{87089940-0355-4947-8851-345F56B353E5}"/>
              </a:ext>
            </a:extLst>
          </p:cNvPr>
          <p:cNvSpPr>
            <a:spLocks xmlns:a="http://schemas.openxmlformats.org/drawingml/2006/main" noGrp="1"/>
          </p:cNvSpPr>
          <p:nvPr/>
        </p:nvSpPr>
        <p:spPr>
          <a:xfrm xmlns:a="http://schemas.openxmlformats.org/drawingml/2006/main">
            <a:off x="6324600" y="1809750"/>
            <a:ext cx="238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3900" b="1">
                <a:solidFill>
                  <a:srgbClr val="E28A24"/>
                </a:solidFill>
                <a:latin typeface="Arial"/>
                <a:ea typeface="Arial"/>
                <a:cs typeface="Arial"/>
              </a:defRPr>
            </a:pPr>
            <a:r>
              <a:rPr sz="3900" b="1">
                <a:solidFill>
                  <a:srgbClr val="E28A24"/>
                </a:solidFill>
                <a:latin typeface="Arial"/>
                <a:ea typeface="Arial"/>
                <a:cs typeface="Arial"/>
              </a:rPr>
              <a:t>72</a:t>
            </a:r>
          </a:p>
        </p:txBody>
      </p:sp>
      <p:sp>
        <p:nvSpPr>
          <p:cNvPr id="8" name="">
            <a:extLst xmlns:a="http://schemas.openxmlformats.org/drawingml/2006/main">
              <a:ext uri="{FF2B5EF4-FFF2-40B4-BE49-F238E27FC236}">
                <a16:creationId xmlns:a16="http://schemas.microsoft.com/office/drawing/2014/main" id="{0D813EA8-6B40-45D6-93C2-B92D6542A338}"/>
              </a:ext>
            </a:extLst>
          </p:cNvPr>
          <p:cNvSpPr>
            <a:spLocks xmlns:a="http://schemas.openxmlformats.org/drawingml/2006/main" noGrp="1"/>
          </p:cNvSpPr>
          <p:nvPr/>
        </p:nvSpPr>
        <p:spPr>
          <a:xfrm xmlns:a="http://schemas.openxmlformats.org/drawingml/2006/main">
            <a:off x="6343650" y="25146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650" b="0">
                <a:solidFill>
                  <a:srgbClr val="243746"/>
                </a:solidFill>
                <a:latin typeface="Arial"/>
                <a:ea typeface="Arial"/>
                <a:cs typeface="Arial"/>
              </a:defRPr>
            </a:pPr>
            <a:r>
              <a:rPr sz="1650" b="0">
                <a:solidFill>
                  <a:srgbClr val="243746"/>
                </a:solidFill>
                <a:latin typeface="Arial"/>
                <a:ea typeface="Arial"/>
                <a:cs typeface="Arial"/>
              </a:rPr>
              <a:t>аномально быстрые сессии</a:t>
            </a:r>
          </a:p>
        </p:txBody>
      </p:sp>
      <p:sp>
        <p:nvSpPr>
          <p:cNvPr id="9" name="">
            <a:extLst xmlns:a="http://schemas.openxmlformats.org/drawingml/2006/main">
              <a:ext uri="{FF2B5EF4-FFF2-40B4-BE49-F238E27FC236}">
                <a16:creationId xmlns:a16="http://schemas.microsoft.com/office/drawing/2014/main" id="{AC1A345B-2ABE-4EFD-9E21-4E98A7E88036}"/>
              </a:ext>
            </a:extLst>
          </p:cNvPr>
          <p:cNvSpPr>
            <a:spLocks xmlns:a="http://schemas.openxmlformats.org/drawingml/2006/main" noGrp="1"/>
          </p:cNvSpPr>
          <p:nvPr/>
        </p:nvSpPr>
        <p:spPr>
          <a:xfrm xmlns:a="http://schemas.openxmlformats.org/drawingml/2006/main">
            <a:off x="6343650" y="31623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650" b="0">
                <a:solidFill>
                  <a:srgbClr val="243746"/>
                </a:solidFill>
                <a:latin typeface="Arial"/>
                <a:ea typeface="Arial"/>
                <a:cs typeface="Arial"/>
              </a:defRPr>
            </a:pPr>
            <a:r>
              <a:rPr sz="1650" b="0">
                <a:solidFill>
                  <a:srgbClr val="243746"/>
                </a:solidFill>
                <a:latin typeface="Arial"/>
                <a:ea typeface="Arial"/>
                <a:cs typeface="Arial"/>
              </a:rPr>
              <a:t>Все 12 ответов за 18–31 секунду; на каждое задание ушло не более 3 секунд. Сессии помечены и исключены из основного анализа.</a:t>
            </a:r>
          </a:p>
        </p:txBody>
      </p:sp>
      <p:sp>
        <p:nvSpPr>
          <p:cNvPr id="10" name="">
            <a:extLst xmlns:a="http://schemas.openxmlformats.org/drawingml/2006/main">
              <a:ext uri="{FF2B5EF4-FFF2-40B4-BE49-F238E27FC236}">
                <a16:creationId xmlns:a16="http://schemas.microsoft.com/office/drawing/2014/main" id="{6B227A14-F6E4-4F1F-AC74-DB4D2562BA0D}"/>
              </a:ext>
            </a:extLst>
          </p:cNvPr>
          <p:cNvSpPr>
            <a:spLocks xmlns:a="http://schemas.openxmlformats.org/drawingml/2006/main" noGrp="1"/>
          </p:cNvSpPr>
          <p:nvPr/>
        </p:nvSpPr>
        <p:spPr>
          <a:xfrm xmlns:a="http://schemas.openxmlformats.org/drawingml/2006/main">
            <a:off x="819150" y="4953000"/>
            <a:ext cx="1033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575" b="0">
                <a:solidFill>
                  <a:srgbClr val="5D6B78"/>
                </a:solidFill>
                <a:latin typeface="Arial"/>
                <a:ea typeface="Arial"/>
                <a:cs typeface="Arial"/>
              </a:defRPr>
            </a:pPr>
            <a:r>
              <a:rPr sz="1575" b="0">
                <a:solidFill>
                  <a:srgbClr val="5D6B78"/>
                </a:solidFill>
                <a:latin typeface="Arial"/>
                <a:ea typeface="Arial"/>
                <a:cs typeface="Arial"/>
              </a:rPr>
              <a:t>Кодировка исправлена, 19 вариантов названий сведены к 10 регионам. Пропущенные ответы сохранены как пропуски.</a:t>
            </a:r>
          </a:p>
        </p:txBody>
      </p:sp>
      <p:sp>
        <p:nvSpPr>
          <p:cNvPr id="11" name="">
            <a:extLst xmlns:a="http://schemas.openxmlformats.org/drawingml/2006/main">
              <a:ext uri="{FF2B5EF4-FFF2-40B4-BE49-F238E27FC236}">
                <a16:creationId xmlns:a16="http://schemas.microsoft.com/office/drawing/2014/main" id="{FB41CD76-9C10-4AEF-94D3-CE3AD17BFD28}"/>
              </a:ext>
            </a:extLst>
          </p:cNvPr>
          <p:cNvSpPr>
            <a:spLocks xmlns:a="http://schemas.openxmlformats.org/drawingml/2006/main" noGrp="1"/>
          </p:cNvSpPr>
          <p:nvPr/>
        </p:nvSpPr>
        <p:spPr>
          <a:xfrm xmlns:a="http://schemas.openxmlformats.org/drawingml/2006/main">
            <a:off x="819150" y="5810250"/>
            <a:ext cx="1033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275" b="0">
                <a:solidFill>
                  <a:srgbClr val="5D6B78"/>
                </a:solidFill>
                <a:latin typeface="Arial"/>
                <a:ea typeface="Arial"/>
                <a:cs typeface="Arial"/>
              </a:defRPr>
            </a:pPr>
            <a:r>
              <a:rPr sz="1275" b="0">
                <a:solidFill>
                  <a:srgbClr val="5D6B78"/>
                </a:solidFill>
                <a:latin typeface="Arial"/>
                <a:ea typeface="Arial"/>
                <a:cs typeface="Arial"/>
              </a:rPr>
              <a:t>Быстрые сессии не подтверждены как тестовые или недобросовестные: вывод ограничен доступными метриками.</a:t>
            </a:r>
          </a:p>
        </p:txBody>
      </p:sp>
    </p:spTree>
    <p:extLst>
      <p:ext uri="{BB962C8B-B14F-4D97-AF65-F5344CB8AC3E}">
        <p14:creationId xmlns:p14="http://schemas.microsoft.com/office/powerpoint/2010/main" val="14263561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2DC33F-C1C2-4138-B4A7-62F798496BF2}"/>
              </a:ext>
            </a:extLst>
          </p:cNvPr>
          <p:cNvSpPr>
            <a:spLocks xmlns:a="http://schemas.openxmlformats.org/drawingml/2006/main" noGrp="1"/>
          </p:cNvSpPr>
          <p:nvPr/>
        </p:nvSpPr>
        <p:spPr>
          <a:xfrm xmlns:a="http://schemas.openxmlformats.org/drawingml/2006/main">
            <a:off x="609600" y="3238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3000" b="1">
                <a:solidFill>
                  <a:srgbClr val="17324D"/>
                </a:solidFill>
                <a:latin typeface="Arial"/>
                <a:ea typeface="Arial"/>
                <a:cs typeface="Arial"/>
              </a:defRPr>
            </a:pPr>
            <a:r>
              <a:rPr sz="3000" b="1">
                <a:solidFill>
                  <a:srgbClr val="17324D"/>
                </a:solidFill>
                <a:latin typeface="Arial"/>
                <a:ea typeface="Arial"/>
                <a:cs typeface="Arial"/>
              </a:rPr>
              <a:t>Средний балл растёт с классом</a:t>
            </a:r>
          </a:p>
        </p:txBody>
      </p:sp>
      <p:sp>
        <p:nvSpPr>
          <p:cNvPr id="2" name="">
            <a:extLst xmlns:a="http://schemas.openxmlformats.org/drawingml/2006/main">
              <a:ext uri="{FF2B5EF4-FFF2-40B4-BE49-F238E27FC236}">
                <a16:creationId xmlns:a16="http://schemas.microsoft.com/office/drawing/2014/main" id="{2807730C-12DE-4C74-AB68-BD720B321B41}"/>
              </a:ext>
            </a:extLst>
          </p:cNvPr>
          <p:cNvSpPr>
            <a:spLocks xmlns:a="http://schemas.openxmlformats.org/drawingml/2006/main" noGrp="1"/>
          </p:cNvSpPr>
          <p:nvPr/>
        </p:nvSpPr>
        <p:spPr>
          <a:xfrm xmlns:a="http://schemas.openxmlformats.org/drawingml/2006/main">
            <a:off x="628650" y="91440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97288"/>
          </a:bodyPr>
          <a:lstStyle xmlns:a="http://schemas.openxmlformats.org/drawingml/2006/main"/>
          <a:p xmlns:a="http://schemas.openxmlformats.org/drawingml/2006/main">
            <a:pPr algn="l">
              <a:defRPr sz="1575" b="0">
                <a:solidFill>
                  <a:srgbClr val="5D6B78"/>
                </a:solidFill>
                <a:latin typeface="Arial"/>
                <a:ea typeface="Arial"/>
                <a:cs typeface="Arial"/>
              </a:defRPr>
            </a:pPr>
            <a:r>
              <a:rPr sz="1575" b="0">
                <a:solidFill>
                  <a:srgbClr val="5D6B78"/>
                </a:solidFill>
                <a:latin typeface="Arial"/>
                <a:ea typeface="Arial"/>
                <a:cs typeface="Arial"/>
              </a:rPr>
              <a:t>Завершённость заданий остаётся около 96% во всех классах. Средний балл растёт с 4,50 в 5-м до 6,62 в 11-м классе.</a:t>
            </a:r>
          </a:p>
        </p:txBody>
      </p:sp>
      <p:sp>
        <p:nvSpPr>
          <p:cNvPr id="3" name="">
            <a:extLst xmlns:a="http://schemas.openxmlformats.org/drawingml/2006/main">
              <a:ext uri="{FF2B5EF4-FFF2-40B4-BE49-F238E27FC236}">
                <a16:creationId xmlns:a16="http://schemas.microsoft.com/office/drawing/2014/main" id="{D094FFEC-92DD-4C97-AB67-7C0E30BFBD98}"/>
              </a:ext>
            </a:extLst>
          </p:cNvPr>
          <p:cNvSpPr>
            <a:spLocks xmlns:a="http://schemas.openxmlformats.org/drawingml/2006/main" noGrp="1"/>
          </p:cNvSpPr>
          <p:nvPr/>
        </p:nvSpPr>
        <p:spPr>
          <a:xfrm xmlns:a="http://schemas.openxmlformats.org/drawingml/2006/main">
            <a:off x="609600" y="65151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66667"/>
          </a:bodyPr>
          <a:lstStyle xmlns:a="http://schemas.openxmlformats.org/drawingml/2006/main"/>
          <a:p xmlns:a="http://schemas.openxmlformats.org/drawingml/2006/main">
            <a:pPr algn="l">
              <a:defRPr sz="975" b="0">
                <a:solidFill>
                  <a:srgbClr val="5D6B78"/>
                </a:solidFill>
                <a:latin typeface="Arial"/>
                <a:ea typeface="Arial"/>
                <a:cs typeface="Arial"/>
              </a:defRPr>
            </a:pPr>
            <a:r>
              <a:rPr sz="975" b="0">
                <a:solidFill>
                  <a:srgbClr val="5D6B78"/>
                </a:solidFill>
                <a:latin typeface="Arial"/>
                <a:ea typeface="Arial"/>
                <a:cs typeface="Arial"/>
              </a:rPr>
              <a:t>Источник: результаты олимпиады и словарь данных</a:t>
            </a:r>
          </a:p>
        </p:txBody>
      </p:sp>
      <p:graphicFrame>
        <p:nvGraphicFramePr>
          <p:cNvPr id="9" name="Chart"/>
          <p:cNvGraphicFramePr/>
          <p:nvPr/>
        </p:nvGraphicFramePr>
        <p:xfrm>
          <a:off xmlns:a="http://schemas.openxmlformats.org/drawingml/2006/main" x="1104900" y="1562100"/>
          <a:ext xmlns:a="http://schemas.openxmlformats.org/drawingml/2006/main" cx="9982200" cy="4143375"/>
        </p:xfrm>
        <a:graphic xmlns:a="http://schemas.openxmlformats.org/drawingml/2006/main">
          <a:graphicData uri="http://schemas.openxmlformats.org/drawingml/2006/chart">
            <c:chart xmlns:r="http://schemas.openxmlformats.org/officeDocument/2006/relationships" xmlns:c="http://schemas.openxmlformats.org/drawingml/2006/chart" r:id="R63e5395579a54c58"/>
          </a:graphicData>
        </a:graphic>
      </p:graphicFrame>
      <p:sp>
        <p:nvSpPr>
          <p:cNvPr id="5" name="">
            <a:extLst xmlns:a="http://schemas.openxmlformats.org/drawingml/2006/main">
              <a:ext uri="{FF2B5EF4-FFF2-40B4-BE49-F238E27FC236}">
                <a16:creationId xmlns:a16="http://schemas.microsoft.com/office/drawing/2014/main" id="{548C5462-1D2F-4E5C-8485-8FEB2735AC99}"/>
              </a:ext>
            </a:extLst>
          </p:cNvPr>
          <p:cNvSpPr>
            <a:spLocks xmlns:a="http://schemas.openxmlformats.org/drawingml/2006/main" noGrp="1"/>
          </p:cNvSpPr>
          <p:nvPr/>
        </p:nvSpPr>
        <p:spPr>
          <a:xfrm xmlns:a="http://schemas.openxmlformats.org/drawingml/2006/main">
            <a:off x="1123950" y="5867400"/>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425" b="0">
                <a:solidFill>
                  <a:srgbClr val="5D6B78"/>
                </a:solidFill>
                <a:latin typeface="Arial"/>
                <a:ea typeface="Arial"/>
                <a:cs typeface="Arial"/>
              </a:defRPr>
            </a:pPr>
            <a:r>
              <a:rPr sz="1425" b="0">
                <a:solidFill>
                  <a:srgbClr val="5D6B78"/>
                </a:solidFill>
                <a:latin typeface="Arial"/>
                <a:ea typeface="Arial"/>
                <a:cs typeface="Arial"/>
              </a:rPr>
              <a:t>Размер выборки по классам близок: 1 093–1 160 участников.</a:t>
            </a:r>
          </a:p>
        </p:txBody>
      </p:sp>
    </p:spTree>
    <p:extLst>
      <p:ext uri="{BB962C8B-B14F-4D97-AF65-F5344CB8AC3E}">
        <p14:creationId xmlns:p14="http://schemas.microsoft.com/office/powerpoint/2010/main" val="16941955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4F2757E-8988-4558-B6FB-0DE73D606030}"/>
              </a:ext>
            </a:extLst>
          </p:cNvPr>
          <p:cNvSpPr>
            <a:spLocks xmlns:a="http://schemas.openxmlformats.org/drawingml/2006/main" noGrp="1"/>
          </p:cNvSpPr>
          <p:nvPr/>
        </p:nvSpPr>
        <p:spPr>
          <a:xfrm xmlns:a="http://schemas.openxmlformats.org/drawingml/2006/main">
            <a:off x="609600" y="3238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3000" b="1">
                <a:solidFill>
                  <a:srgbClr val="17324D"/>
                </a:solidFill>
                <a:latin typeface="Arial"/>
                <a:ea typeface="Arial"/>
                <a:cs typeface="Arial"/>
              </a:defRPr>
            </a:pPr>
            <a:r>
              <a:rPr sz="3000" b="1">
                <a:solidFill>
                  <a:srgbClr val="17324D"/>
                </a:solidFill>
                <a:latin typeface="Arial"/>
                <a:ea typeface="Arial"/>
                <a:cs typeface="Arial"/>
              </a:rPr>
              <a:t>Задание 1 оказалось самым трудным</a:t>
            </a:r>
          </a:p>
        </p:txBody>
      </p:sp>
      <p:sp>
        <p:nvSpPr>
          <p:cNvPr id="2" name="">
            <a:extLst xmlns:a="http://schemas.openxmlformats.org/drawingml/2006/main">
              <a:ext uri="{FF2B5EF4-FFF2-40B4-BE49-F238E27FC236}">
                <a16:creationId xmlns:a16="http://schemas.microsoft.com/office/drawing/2014/main" id="{389F7A7F-CB2C-4C0F-BE5A-9C39991A7FB7}"/>
              </a:ext>
            </a:extLst>
          </p:cNvPr>
          <p:cNvSpPr>
            <a:spLocks xmlns:a="http://schemas.openxmlformats.org/drawingml/2006/main" noGrp="1"/>
          </p:cNvSpPr>
          <p:nvPr/>
        </p:nvSpPr>
        <p:spPr>
          <a:xfrm xmlns:a="http://schemas.openxmlformats.org/drawingml/2006/main">
            <a:off x="628650" y="91440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575" b="0">
                <a:solidFill>
                  <a:srgbClr val="5D6B78"/>
                </a:solidFill>
                <a:latin typeface="Arial"/>
                <a:ea typeface="Arial"/>
                <a:cs typeface="Arial"/>
              </a:defRPr>
            </a:pPr>
            <a:r>
              <a:rPr sz="1575" b="0">
                <a:solidFill>
                  <a:srgbClr val="5D6B78"/>
                </a:solidFill>
                <a:latin typeface="Arial"/>
                <a:ea typeface="Arial"/>
                <a:cs typeface="Arial"/>
              </a:rPr>
              <a:t>Доля правильных ответов среди ответивших: 29,76% по заданию 1 и 63,88% по заданию 5.</a:t>
            </a:r>
          </a:p>
        </p:txBody>
      </p:sp>
      <p:sp>
        <p:nvSpPr>
          <p:cNvPr id="3" name="">
            <a:extLst xmlns:a="http://schemas.openxmlformats.org/drawingml/2006/main">
              <a:ext uri="{FF2B5EF4-FFF2-40B4-BE49-F238E27FC236}">
                <a16:creationId xmlns:a16="http://schemas.microsoft.com/office/drawing/2014/main" id="{F5255E5A-3C6E-4FEF-A7BB-76CB0BAB38ED}"/>
              </a:ext>
            </a:extLst>
          </p:cNvPr>
          <p:cNvSpPr>
            <a:spLocks xmlns:a="http://schemas.openxmlformats.org/drawingml/2006/main" noGrp="1"/>
          </p:cNvSpPr>
          <p:nvPr/>
        </p:nvSpPr>
        <p:spPr>
          <a:xfrm xmlns:a="http://schemas.openxmlformats.org/drawingml/2006/main">
            <a:off x="609600" y="65151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66667"/>
          </a:bodyPr>
          <a:lstStyle xmlns:a="http://schemas.openxmlformats.org/drawingml/2006/main"/>
          <a:p xmlns:a="http://schemas.openxmlformats.org/drawingml/2006/main">
            <a:pPr algn="l">
              <a:defRPr sz="975" b="0">
                <a:solidFill>
                  <a:srgbClr val="5D6B78"/>
                </a:solidFill>
                <a:latin typeface="Arial"/>
                <a:ea typeface="Arial"/>
                <a:cs typeface="Arial"/>
              </a:defRPr>
            </a:pPr>
            <a:r>
              <a:rPr sz="975" b="0">
                <a:solidFill>
                  <a:srgbClr val="5D6B78"/>
                </a:solidFill>
                <a:latin typeface="Arial"/>
                <a:ea typeface="Arial"/>
                <a:cs typeface="Arial"/>
              </a:rPr>
              <a:t>Источник: результаты олимпиады и словарь данных</a:t>
            </a:r>
          </a:p>
        </p:txBody>
      </p:sp>
      <p:sp>
        <p:nvSpPr>
          <p:cNvPr id="4" name="">
            <a:extLst xmlns:a="http://schemas.openxmlformats.org/drawingml/2006/main">
              <a:ext uri="{FF2B5EF4-FFF2-40B4-BE49-F238E27FC236}">
                <a16:creationId xmlns:a16="http://schemas.microsoft.com/office/drawing/2014/main" id="{4EAC07A8-58DB-4491-A556-DF950BEE2DE4}"/>
              </a:ext>
            </a:extLst>
          </p:cNvPr>
          <p:cNvSpPr>
            <a:spLocks xmlns:a="http://schemas.openxmlformats.org/drawingml/2006/main" noGrp="1"/>
          </p:cNvSpPr>
          <p:nvPr/>
        </p:nvSpPr>
        <p:spPr>
          <a:xfrm xmlns:a="http://schemas.openxmlformats.org/drawingml/2006/main">
            <a:off x="762000" y="146685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80702"/>
          </a:bodyPr>
          <a:lstStyle xmlns:a="http://schemas.openxmlformats.org/drawingml/2006/main"/>
          <a:p xmlns:a="http://schemas.openxmlformats.org/drawingml/2006/main">
            <a:pPr algn="l">
              <a:defRPr sz="1425" b="1">
                <a:solidFill>
                  <a:srgbClr val="17324D"/>
                </a:solidFill>
                <a:latin typeface="Arial"/>
                <a:ea typeface="Arial"/>
                <a:cs typeface="Arial"/>
              </a:defRPr>
            </a:pPr>
            <a:r>
              <a:rPr sz="1425" b="1">
                <a:solidFill>
                  <a:srgbClr val="17324D"/>
                </a:solidFill>
                <a:latin typeface="Arial"/>
                <a:ea typeface="Arial"/>
                <a:cs typeface="Arial"/>
              </a:rPr>
              <a:t>Правильные ответы, %</a:t>
            </a:r>
          </a:p>
        </p:txBody>
      </p:sp>
      <p:sp>
        <p:nvSpPr>
          <p:cNvPr id="5" name="">
            <a:extLst xmlns:a="http://schemas.openxmlformats.org/drawingml/2006/main">
              <a:ext uri="{FF2B5EF4-FFF2-40B4-BE49-F238E27FC236}">
                <a16:creationId xmlns:a16="http://schemas.microsoft.com/office/drawing/2014/main" id="{4752AA94-5D58-4152-9089-B6EF664453EF}"/>
              </a:ext>
            </a:extLst>
          </p:cNvPr>
          <p:cNvSpPr>
            <a:spLocks xmlns:a="http://schemas.openxmlformats.org/drawingml/2006/main" noGrp="1"/>
          </p:cNvSpPr>
          <p:nvPr/>
        </p:nvSpPr>
        <p:spPr>
          <a:xfrm xmlns:a="http://schemas.openxmlformats.org/drawingml/2006/main">
            <a:off x="6572250" y="146685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80702"/>
          </a:bodyPr>
          <a:lstStyle xmlns:a="http://schemas.openxmlformats.org/drawingml/2006/main"/>
          <a:p xmlns:a="http://schemas.openxmlformats.org/drawingml/2006/main">
            <a:pPr algn="l">
              <a:defRPr sz="1425" b="1">
                <a:solidFill>
                  <a:srgbClr val="17324D"/>
                </a:solidFill>
                <a:latin typeface="Arial"/>
                <a:ea typeface="Arial"/>
                <a:cs typeface="Arial"/>
              </a:defRPr>
            </a:pPr>
            <a:r>
              <a:rPr sz="1425" b="1">
                <a:solidFill>
                  <a:srgbClr val="17324D"/>
                </a:solidFill>
                <a:latin typeface="Arial"/>
                <a:ea typeface="Arial"/>
                <a:cs typeface="Arial"/>
              </a:rPr>
              <a:t>Среднее время, сек</a:t>
            </a:r>
          </a:p>
        </p:txBody>
      </p:sp>
      <p:graphicFrame>
        <p:nvGraphicFramePr>
          <p:cNvPr id="14" name="Chart"/>
          <p:cNvGraphicFramePr/>
          <p:nvPr/>
        </p:nvGraphicFramePr>
        <p:xfrm>
          <a:off xmlns:a="http://schemas.openxmlformats.org/drawingml/2006/main" x="666750" y="1809750"/>
          <a:ext xmlns:a="http://schemas.openxmlformats.org/drawingml/2006/main" cx="5286375" cy="4171950"/>
        </p:xfrm>
        <a:graphic xmlns:a="http://schemas.openxmlformats.org/drawingml/2006/main">
          <a:graphicData uri="http://schemas.openxmlformats.org/drawingml/2006/chart">
            <c:chart xmlns:r="http://schemas.openxmlformats.org/officeDocument/2006/relationships" xmlns:c="http://schemas.openxmlformats.org/drawingml/2006/chart" r:id="R6e3f86d08dcc4af4"/>
          </a:graphicData>
        </a:graphic>
      </p:graphicFrame>
      <p:graphicFrame>
        <p:nvGraphicFramePr>
          <p:cNvPr id="15" name="Chart"/>
          <p:cNvGraphicFramePr/>
          <p:nvPr/>
        </p:nvGraphicFramePr>
        <p:xfrm>
          <a:off xmlns:a="http://schemas.openxmlformats.org/drawingml/2006/main" x="6191250" y="1809750"/>
          <a:ext xmlns:a="http://schemas.openxmlformats.org/drawingml/2006/main" cx="5334000" cy="4171950"/>
        </p:xfrm>
        <a:graphic xmlns:a="http://schemas.openxmlformats.org/drawingml/2006/main">
          <a:graphicData uri="http://schemas.openxmlformats.org/drawingml/2006/chart">
            <c:chart xmlns:r="http://schemas.openxmlformats.org/officeDocument/2006/relationships" xmlns:c="http://schemas.openxmlformats.org/drawingml/2006/chart" r:id="R10e95ceeb6034c0d"/>
          </a:graphicData>
        </a:graphic>
      </p:graphicFrame>
      <p:sp>
        <p:nvSpPr>
          <p:cNvPr id="8" name="">
            <a:extLst xmlns:a="http://schemas.openxmlformats.org/drawingml/2006/main">
              <a:ext uri="{FF2B5EF4-FFF2-40B4-BE49-F238E27FC236}">
                <a16:creationId xmlns:a16="http://schemas.microsoft.com/office/drawing/2014/main" id="{4F280CB9-2463-426E-BFCC-6BD96A073D74}"/>
              </a:ext>
            </a:extLst>
          </p:cNvPr>
          <p:cNvSpPr>
            <a:spLocks xmlns:a="http://schemas.openxmlformats.org/drawingml/2006/main" noGrp="1"/>
          </p:cNvSpPr>
          <p:nvPr/>
        </p:nvSpPr>
        <p:spPr>
          <a:xfrm xmlns:a="http://schemas.openxmlformats.org/drawingml/2006/main">
            <a:off x="742950" y="60198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350" b="0">
                <a:solidFill>
                  <a:srgbClr val="5D6B78"/>
                </a:solidFill>
                <a:latin typeface="Arial"/>
                <a:ea typeface="Arial"/>
                <a:cs typeface="Arial"/>
              </a:defRPr>
            </a:pPr>
            <a:r>
              <a:rPr sz="1350" b="0">
                <a:solidFill>
                  <a:srgbClr val="5D6B78"/>
                </a:solidFill>
                <a:latin typeface="Arial"/>
                <a:ea typeface="Arial"/>
                <a:cs typeface="Arial"/>
              </a:rPr>
              <a:t>Задание 5 дольше всего решали (81 сек), хотя оно оказалось самым лёгким.</a:t>
            </a:r>
          </a:p>
        </p:txBody>
      </p:sp>
    </p:spTree>
    <p:extLst>
      <p:ext uri="{BB962C8B-B14F-4D97-AF65-F5344CB8AC3E}">
        <p14:creationId xmlns:p14="http://schemas.microsoft.com/office/powerpoint/2010/main" val="9812864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4118C67-F2D2-44E2-99EB-BE8D4348BD46}"/>
              </a:ext>
            </a:extLst>
          </p:cNvPr>
          <p:cNvSpPr>
            <a:spLocks xmlns:a="http://schemas.openxmlformats.org/drawingml/2006/main" noGrp="1"/>
          </p:cNvSpPr>
          <p:nvPr/>
        </p:nvSpPr>
        <p:spPr>
          <a:xfrm xmlns:a="http://schemas.openxmlformats.org/drawingml/2006/main">
            <a:off x="609600" y="3238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3000" b="1">
                <a:solidFill>
                  <a:srgbClr val="17324D"/>
                </a:solidFill>
                <a:latin typeface="Arial"/>
                <a:ea typeface="Arial"/>
                <a:cs typeface="Arial"/>
              </a:defRPr>
            </a:pPr>
            <a:r>
              <a:rPr sz="3000" b="1">
                <a:solidFill>
                  <a:srgbClr val="17324D"/>
                </a:solidFill>
                <a:latin typeface="Arial"/>
                <a:ea typeface="Arial"/>
                <a:cs typeface="Arial"/>
              </a:rPr>
              <a:t>Региональные результаты близки</a:t>
            </a:r>
          </a:p>
        </p:txBody>
      </p:sp>
      <p:sp>
        <p:nvSpPr>
          <p:cNvPr id="2" name="">
            <a:extLst xmlns:a="http://schemas.openxmlformats.org/drawingml/2006/main">
              <a:ext uri="{FF2B5EF4-FFF2-40B4-BE49-F238E27FC236}">
                <a16:creationId xmlns:a16="http://schemas.microsoft.com/office/drawing/2014/main" id="{88AA36A6-C618-4C4A-8D06-6E4A46BCF272}"/>
              </a:ext>
            </a:extLst>
          </p:cNvPr>
          <p:cNvSpPr>
            <a:spLocks xmlns:a="http://schemas.openxmlformats.org/drawingml/2006/main" noGrp="1"/>
          </p:cNvSpPr>
          <p:nvPr/>
        </p:nvSpPr>
        <p:spPr>
          <a:xfrm xmlns:a="http://schemas.openxmlformats.org/drawingml/2006/main">
            <a:off x="628650" y="91440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575" b="0">
                <a:solidFill>
                  <a:srgbClr val="5D6B78"/>
                </a:solidFill>
                <a:latin typeface="Arial"/>
                <a:ea typeface="Arial"/>
                <a:cs typeface="Arial"/>
              </a:defRPr>
            </a:pPr>
            <a:r>
              <a:rPr sz="1575" b="0">
                <a:solidFill>
                  <a:srgbClr val="5D6B78"/>
                </a:solidFill>
                <a:latin typeface="Arial"/>
                <a:ea typeface="Arial"/>
                <a:cs typeface="Arial"/>
              </a:rPr>
              <a:t>Средний балл по регионам: от 5,38 до 5,73 из 12; размах — 0,35 балла.</a:t>
            </a:r>
          </a:p>
        </p:txBody>
      </p:sp>
      <p:sp>
        <p:nvSpPr>
          <p:cNvPr id="3" name="">
            <a:extLst xmlns:a="http://schemas.openxmlformats.org/drawingml/2006/main">
              <a:ext uri="{FF2B5EF4-FFF2-40B4-BE49-F238E27FC236}">
                <a16:creationId xmlns:a16="http://schemas.microsoft.com/office/drawing/2014/main" id="{155E25D3-D10E-4435-B669-B1CD2A47E33E}"/>
              </a:ext>
            </a:extLst>
          </p:cNvPr>
          <p:cNvSpPr>
            <a:spLocks xmlns:a="http://schemas.openxmlformats.org/drawingml/2006/main" noGrp="1"/>
          </p:cNvSpPr>
          <p:nvPr/>
        </p:nvSpPr>
        <p:spPr>
          <a:xfrm xmlns:a="http://schemas.openxmlformats.org/drawingml/2006/main">
            <a:off x="609600" y="65151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66667"/>
          </a:bodyPr>
          <a:lstStyle xmlns:a="http://schemas.openxmlformats.org/drawingml/2006/main"/>
          <a:p xmlns:a="http://schemas.openxmlformats.org/drawingml/2006/main">
            <a:pPr algn="l">
              <a:defRPr sz="975" b="0">
                <a:solidFill>
                  <a:srgbClr val="5D6B78"/>
                </a:solidFill>
                <a:latin typeface="Arial"/>
                <a:ea typeface="Arial"/>
                <a:cs typeface="Arial"/>
              </a:defRPr>
            </a:pPr>
            <a:r>
              <a:rPr sz="975" b="0">
                <a:solidFill>
                  <a:srgbClr val="5D6B78"/>
                </a:solidFill>
                <a:latin typeface="Arial"/>
                <a:ea typeface="Arial"/>
                <a:cs typeface="Arial"/>
              </a:rPr>
              <a:t>Источник: результаты олимпиады и словарь данных</a:t>
            </a:r>
          </a:p>
        </p:txBody>
      </p:sp>
      <p:graphicFrame>
        <p:nvGraphicFramePr>
          <p:cNvPr id="9" name=""/>
          <p:cNvGraphicFramePr/>
          <p:nvPr/>
        </p:nvGraphicFramePr>
        <p:xfrm>
          <a:off xmlns:a="http://schemas.openxmlformats.org/drawingml/2006/main" x="685800" y="1581150"/>
          <a:ext xmlns:a="http://schemas.openxmlformats.org/drawingml/2006/main" cx="8477250" cy="4305300"/>
        </p:xfrm>
        <a:graphic xmlns:a="http://schemas.openxmlformats.org/drawingml/2006/main">
          <a:graphicData uri="http://schemas.openxmlformats.org/drawingml/2006/table">
            <a:tbl>
              <a:tblPr firstRow="1" bandRow="1"/>
              <a:tblGrid>
                <a:gridCol w="2714625"/>
                <a:gridCol w="1619250"/>
                <a:gridCol w="1952625"/>
                <a:gridCol w="2190750"/>
              </a:tblGrid>
              <a:tr h="391391">
                <a:tc>
                  <a:txBody>
                    <a:bodyPr/>
                    <a:lstStyle/>
                    <a:p>
                      <a:pPr algn="l"/>
                      <a:r>
                        <a:rPr sz="1350" b="1">
                          <a:solidFill>
                            <a:srgbClr val="FFFFFF"/>
                          </a:solidFill>
                          <a:latin typeface="Arial"/>
                          <a:ea typeface="Arial"/>
                          <a:cs typeface="Arial"/>
                        </a:rPr>
                        <a:t>Регион</a:t>
                      </a:r>
                    </a:p>
                  </a:txBody>
                  <a:tcPr marL="91440" marR="91440" marT="45720" marB="45720" anchor="ctr">
                    <a:solidFill>
                      <a:srgbClr val="17324D"/>
                    </a:solidFill>
                  </a:tcPr>
                </a:tc>
                <a:tc>
                  <a:txBody>
                    <a:bodyPr/>
                    <a:lstStyle/>
                    <a:p>
                      <a:pPr algn="ctr"/>
                      <a:r>
                        <a:rPr sz="1350" b="1">
                          <a:solidFill>
                            <a:srgbClr val="FFFFFF"/>
                          </a:solidFill>
                          <a:latin typeface="Arial"/>
                          <a:ea typeface="Arial"/>
                          <a:cs typeface="Arial"/>
                        </a:rPr>
                        <a:t>Участники</a:t>
                      </a:r>
                    </a:p>
                  </a:txBody>
                  <a:tcPr marL="91440" marR="91440" marT="45720" marB="45720" anchor="ctr">
                    <a:solidFill>
                      <a:srgbClr val="17324D"/>
                    </a:solidFill>
                  </a:tcPr>
                </a:tc>
                <a:tc>
                  <a:txBody>
                    <a:bodyPr/>
                    <a:lstStyle/>
                    <a:p>
                      <a:pPr algn="ctr"/>
                      <a:r>
                        <a:rPr sz="1350" b="1">
                          <a:solidFill>
                            <a:srgbClr val="FFFFFF"/>
                          </a:solidFill>
                          <a:latin typeface="Arial"/>
                          <a:ea typeface="Arial"/>
                          <a:cs typeface="Arial"/>
                        </a:rPr>
                        <a:t>Средний балл</a:t>
                      </a:r>
                    </a:p>
                  </a:txBody>
                  <a:tcPr marL="91440" marR="91440" marT="45720" marB="45720" anchor="ctr">
                    <a:solidFill>
                      <a:srgbClr val="17324D"/>
                    </a:solidFill>
                  </a:tcPr>
                </a:tc>
                <a:tc>
                  <a:txBody>
                    <a:bodyPr/>
                    <a:lstStyle/>
                    <a:p>
                      <a:pPr algn="ctr"/>
                      <a:r>
                        <a:rPr sz="1350" b="1">
                          <a:solidFill>
                            <a:srgbClr val="FFFFFF"/>
                          </a:solidFill>
                          <a:latin typeface="Arial"/>
                          <a:ea typeface="Arial"/>
                          <a:cs typeface="Arial"/>
                        </a:rPr>
                        <a:t>Точность, %</a:t>
                      </a:r>
                    </a:p>
                  </a:txBody>
                  <a:tcPr marL="91440" marR="91440" marT="45720" marB="45720" anchor="ctr">
                    <a:solidFill>
                      <a:srgbClr val="17324D"/>
                    </a:solidFill>
                  </a:tcPr>
                </a:tc>
              </a:tr>
              <a:tr h="391391">
                <a:tc>
                  <a:txBody>
                    <a:bodyPr/>
                    <a:lstStyle/>
                    <a:p>
                      <a:pPr algn="l"/>
                      <a:r>
                        <a:rPr sz="1350" b="0">
                          <a:solidFill>
                            <a:srgbClr val="243746"/>
                          </a:solidFill>
                          <a:latin typeface="Arial"/>
                          <a:ea typeface="Arial"/>
                          <a:cs typeface="Arial"/>
                        </a:rPr>
                        <a:t>Новосибирск</a:t>
                      </a:r>
                    </a:p>
                  </a:txBody>
                  <a:tcPr marL="91440" marR="91440" marT="45720" marB="45720" anchor="ctr"/>
                </a:tc>
                <a:tc>
                  <a:txBody>
                    <a:bodyPr/>
                    <a:lstStyle/>
                    <a:p>
                      <a:pPr algn="ctr"/>
                      <a:r>
                        <a:rPr sz="1350" b="0">
                          <a:solidFill>
                            <a:srgbClr val="243746"/>
                          </a:solidFill>
                          <a:latin typeface="Arial"/>
                          <a:ea typeface="Arial"/>
                          <a:cs typeface="Arial"/>
                        </a:rPr>
                        <a:t>777</a:t>
                      </a:r>
                    </a:p>
                  </a:txBody>
                  <a:tcPr marL="91440" marR="91440" marT="45720" marB="45720" anchor="ctr"/>
                </a:tc>
                <a:tc>
                  <a:txBody>
                    <a:bodyPr/>
                    <a:lstStyle/>
                    <a:p>
                      <a:pPr algn="ctr"/>
                      <a:r>
                        <a:rPr sz="1350" b="0">
                          <a:solidFill>
                            <a:srgbClr val="243746"/>
                          </a:solidFill>
                          <a:latin typeface="Arial"/>
                          <a:ea typeface="Arial"/>
                          <a:cs typeface="Arial"/>
                        </a:rPr>
                        <a:t>5,73</a:t>
                      </a:r>
                    </a:p>
                  </a:txBody>
                  <a:tcPr marL="91440" marR="91440" marT="45720" marB="45720" anchor="ctr"/>
                </a:tc>
                <a:tc>
                  <a:txBody>
                    <a:bodyPr/>
                    <a:lstStyle/>
                    <a:p>
                      <a:pPr algn="ctr"/>
                      <a:r>
                        <a:rPr sz="1350" b="0">
                          <a:solidFill>
                            <a:srgbClr val="243746"/>
                          </a:solidFill>
                          <a:latin typeface="Arial"/>
                          <a:ea typeface="Arial"/>
                          <a:cs typeface="Arial"/>
                        </a:rPr>
                        <a:t>49,77</a:t>
                      </a:r>
                    </a:p>
                  </a:txBody>
                  <a:tcPr marL="91440" marR="91440" marT="45720" marB="45720" anchor="ctr"/>
                </a:tc>
              </a:tr>
              <a:tr h="391391">
                <a:tc>
                  <a:txBody>
                    <a:bodyPr/>
                    <a:lstStyle/>
                    <a:p>
                      <a:pPr algn="l"/>
                      <a:r>
                        <a:rPr sz="1350" b="0">
                          <a:solidFill>
                            <a:srgbClr val="243746"/>
                          </a:solidFill>
                          <a:latin typeface="Arial"/>
                          <a:ea typeface="Arial"/>
                          <a:cs typeface="Arial"/>
                        </a:rPr>
                        <a:t>Москва</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824</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5,66</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49,24</a:t>
                      </a:r>
                    </a:p>
                  </a:txBody>
                  <a:tcPr marL="91440" marR="91440" marT="45720" marB="45720" anchor="ctr">
                    <a:solidFill>
                      <a:srgbClr val="F4F7F9"/>
                    </a:solidFill>
                  </a:tcPr>
                </a:tc>
              </a:tr>
              <a:tr h="391391">
                <a:tc>
                  <a:txBody>
                    <a:bodyPr/>
                    <a:lstStyle/>
                    <a:p>
                      <a:pPr algn="l"/>
                      <a:r>
                        <a:rPr sz="1350" b="0">
                          <a:solidFill>
                            <a:srgbClr val="243746"/>
                          </a:solidFill>
                          <a:latin typeface="Arial"/>
                          <a:ea typeface="Arial"/>
                          <a:cs typeface="Arial"/>
                        </a:rPr>
                        <a:t>Екатеринбург</a:t>
                      </a:r>
                    </a:p>
                  </a:txBody>
                  <a:tcPr marL="91440" marR="91440" marT="45720" marB="45720" anchor="ctr"/>
                </a:tc>
                <a:tc>
                  <a:txBody>
                    <a:bodyPr/>
                    <a:lstStyle/>
                    <a:p>
                      <a:pPr algn="ctr"/>
                      <a:r>
                        <a:rPr sz="1350" b="0">
                          <a:solidFill>
                            <a:srgbClr val="243746"/>
                          </a:solidFill>
                          <a:latin typeface="Arial"/>
                          <a:ea typeface="Arial"/>
                          <a:cs typeface="Arial"/>
                        </a:rPr>
                        <a:t>745</a:t>
                      </a:r>
                    </a:p>
                  </a:txBody>
                  <a:tcPr marL="91440" marR="91440" marT="45720" marB="45720" anchor="ctr"/>
                </a:tc>
                <a:tc>
                  <a:txBody>
                    <a:bodyPr/>
                    <a:lstStyle/>
                    <a:p>
                      <a:pPr algn="ctr"/>
                      <a:r>
                        <a:rPr sz="1350" b="0">
                          <a:solidFill>
                            <a:srgbClr val="243746"/>
                          </a:solidFill>
                          <a:latin typeface="Arial"/>
                          <a:ea typeface="Arial"/>
                          <a:cs typeface="Arial"/>
                        </a:rPr>
                        <a:t>5,62</a:t>
                      </a:r>
                    </a:p>
                  </a:txBody>
                  <a:tcPr marL="91440" marR="91440" marT="45720" marB="45720" anchor="ctr"/>
                </a:tc>
                <a:tc>
                  <a:txBody>
                    <a:bodyPr/>
                    <a:lstStyle/>
                    <a:p>
                      <a:pPr algn="ctr"/>
                      <a:r>
                        <a:rPr sz="1350" b="0">
                          <a:solidFill>
                            <a:srgbClr val="243746"/>
                          </a:solidFill>
                          <a:latin typeface="Arial"/>
                          <a:ea typeface="Arial"/>
                          <a:cs typeface="Arial"/>
                        </a:rPr>
                        <a:t>48,75</a:t>
                      </a:r>
                    </a:p>
                  </a:txBody>
                  <a:tcPr marL="91440" marR="91440" marT="45720" marB="45720" anchor="ctr"/>
                </a:tc>
              </a:tr>
              <a:tr h="391391">
                <a:tc>
                  <a:txBody>
                    <a:bodyPr/>
                    <a:lstStyle/>
                    <a:p>
                      <a:pPr algn="l"/>
                      <a:r>
                        <a:rPr sz="1350" b="0">
                          <a:solidFill>
                            <a:srgbClr val="243746"/>
                          </a:solidFill>
                          <a:latin typeface="Arial"/>
                          <a:ea typeface="Arial"/>
                          <a:cs typeface="Arial"/>
                        </a:rPr>
                        <a:t>Ростов-на-Дону</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787</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5,60</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48,46</a:t>
                      </a:r>
                    </a:p>
                  </a:txBody>
                  <a:tcPr marL="91440" marR="91440" marT="45720" marB="45720" anchor="ctr">
                    <a:solidFill>
                      <a:srgbClr val="F4F7F9"/>
                    </a:solidFill>
                  </a:tcPr>
                </a:tc>
              </a:tr>
              <a:tr h="391391">
                <a:tc>
                  <a:txBody>
                    <a:bodyPr/>
                    <a:lstStyle/>
                    <a:p>
                      <a:pPr algn="l"/>
                      <a:r>
                        <a:rPr sz="1350" b="0">
                          <a:solidFill>
                            <a:srgbClr val="243746"/>
                          </a:solidFill>
                          <a:latin typeface="Arial"/>
                          <a:ea typeface="Arial"/>
                          <a:cs typeface="Arial"/>
                        </a:rPr>
                        <a:t>Санкт-Петербург</a:t>
                      </a:r>
                    </a:p>
                  </a:txBody>
                  <a:tcPr marL="91440" marR="91440" marT="45720" marB="45720" anchor="ctr"/>
                </a:tc>
                <a:tc>
                  <a:txBody>
                    <a:bodyPr/>
                    <a:lstStyle/>
                    <a:p>
                      <a:pPr algn="ctr"/>
                      <a:r>
                        <a:rPr sz="1350" b="0">
                          <a:solidFill>
                            <a:srgbClr val="243746"/>
                          </a:solidFill>
                          <a:latin typeface="Arial"/>
                          <a:ea typeface="Arial"/>
                          <a:cs typeface="Arial"/>
                        </a:rPr>
                        <a:t>796</a:t>
                      </a:r>
                    </a:p>
                  </a:txBody>
                  <a:tcPr marL="91440" marR="91440" marT="45720" marB="45720" anchor="ctr"/>
                </a:tc>
                <a:tc>
                  <a:txBody>
                    <a:bodyPr/>
                    <a:lstStyle/>
                    <a:p>
                      <a:pPr algn="ctr"/>
                      <a:r>
                        <a:rPr sz="1350" b="0">
                          <a:solidFill>
                            <a:srgbClr val="243746"/>
                          </a:solidFill>
                          <a:latin typeface="Arial"/>
                          <a:ea typeface="Arial"/>
                          <a:cs typeface="Arial"/>
                        </a:rPr>
                        <a:t>5,58</a:t>
                      </a:r>
                    </a:p>
                  </a:txBody>
                  <a:tcPr marL="91440" marR="91440" marT="45720" marB="45720" anchor="ctr"/>
                </a:tc>
                <a:tc>
                  <a:txBody>
                    <a:bodyPr/>
                    <a:lstStyle/>
                    <a:p>
                      <a:pPr algn="ctr"/>
                      <a:r>
                        <a:rPr sz="1350" b="0">
                          <a:solidFill>
                            <a:srgbClr val="243746"/>
                          </a:solidFill>
                          <a:latin typeface="Arial"/>
                          <a:ea typeface="Arial"/>
                          <a:cs typeface="Arial"/>
                        </a:rPr>
                        <a:t>48,20</a:t>
                      </a:r>
                    </a:p>
                  </a:txBody>
                  <a:tcPr marL="91440" marR="91440" marT="45720" marB="45720" anchor="ctr"/>
                </a:tc>
              </a:tr>
              <a:tr h="391391">
                <a:tc>
                  <a:txBody>
                    <a:bodyPr/>
                    <a:lstStyle/>
                    <a:p>
                      <a:pPr algn="l"/>
                      <a:r>
                        <a:rPr sz="1350" b="0">
                          <a:solidFill>
                            <a:srgbClr val="243746"/>
                          </a:solidFill>
                          <a:latin typeface="Arial"/>
                          <a:ea typeface="Arial"/>
                          <a:cs typeface="Arial"/>
                        </a:rPr>
                        <a:t>Воронеж</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792</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5,50</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47,64</a:t>
                      </a:r>
                    </a:p>
                  </a:txBody>
                  <a:tcPr marL="91440" marR="91440" marT="45720" marB="45720" anchor="ctr">
                    <a:solidFill>
                      <a:srgbClr val="F4F7F9"/>
                    </a:solidFill>
                  </a:tcPr>
                </a:tc>
              </a:tr>
              <a:tr h="391391">
                <a:tc>
                  <a:txBody>
                    <a:bodyPr/>
                    <a:lstStyle/>
                    <a:p>
                      <a:pPr algn="l"/>
                      <a:r>
                        <a:rPr sz="1350" b="0">
                          <a:solidFill>
                            <a:srgbClr val="243746"/>
                          </a:solidFill>
                          <a:latin typeface="Arial"/>
                          <a:ea typeface="Arial"/>
                          <a:cs typeface="Arial"/>
                        </a:rPr>
                        <a:t>Уфа</a:t>
                      </a:r>
                    </a:p>
                  </a:txBody>
                  <a:tcPr marL="91440" marR="91440" marT="45720" marB="45720" anchor="ctr"/>
                </a:tc>
                <a:tc>
                  <a:txBody>
                    <a:bodyPr/>
                    <a:lstStyle/>
                    <a:p>
                      <a:pPr algn="ctr"/>
                      <a:r>
                        <a:rPr sz="1350" b="0">
                          <a:solidFill>
                            <a:srgbClr val="243746"/>
                          </a:solidFill>
                          <a:latin typeface="Arial"/>
                          <a:ea typeface="Arial"/>
                          <a:cs typeface="Arial"/>
                        </a:rPr>
                        <a:t>838</a:t>
                      </a:r>
                    </a:p>
                  </a:txBody>
                  <a:tcPr marL="91440" marR="91440" marT="45720" marB="45720" anchor="ctr"/>
                </a:tc>
                <a:tc>
                  <a:txBody>
                    <a:bodyPr/>
                    <a:lstStyle/>
                    <a:p>
                      <a:pPr algn="ctr"/>
                      <a:r>
                        <a:rPr sz="1350" b="0">
                          <a:solidFill>
                            <a:srgbClr val="243746"/>
                          </a:solidFill>
                          <a:latin typeface="Arial"/>
                          <a:ea typeface="Arial"/>
                          <a:cs typeface="Arial"/>
                        </a:rPr>
                        <a:t>5,49</a:t>
                      </a:r>
                    </a:p>
                  </a:txBody>
                  <a:tcPr marL="91440" marR="91440" marT="45720" marB="45720" anchor="ctr"/>
                </a:tc>
                <a:tc>
                  <a:txBody>
                    <a:bodyPr/>
                    <a:lstStyle/>
                    <a:p>
                      <a:pPr algn="ctr"/>
                      <a:r>
                        <a:rPr sz="1350" b="0">
                          <a:solidFill>
                            <a:srgbClr val="243746"/>
                          </a:solidFill>
                          <a:latin typeface="Arial"/>
                          <a:ea typeface="Arial"/>
                          <a:cs typeface="Arial"/>
                        </a:rPr>
                        <a:t>47,61</a:t>
                      </a:r>
                    </a:p>
                  </a:txBody>
                  <a:tcPr marL="91440" marR="91440" marT="45720" marB="45720" anchor="ctr"/>
                </a:tc>
              </a:tr>
              <a:tr h="391391">
                <a:tc>
                  <a:txBody>
                    <a:bodyPr/>
                    <a:lstStyle/>
                    <a:p>
                      <a:pPr algn="l"/>
                      <a:r>
                        <a:rPr sz="1350" b="0">
                          <a:solidFill>
                            <a:srgbClr val="243746"/>
                          </a:solidFill>
                          <a:latin typeface="Arial"/>
                          <a:ea typeface="Arial"/>
                          <a:cs typeface="Arial"/>
                        </a:rPr>
                        <a:t>Казань</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811</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5,48</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47,75</a:t>
                      </a:r>
                    </a:p>
                  </a:txBody>
                  <a:tcPr marL="91440" marR="91440" marT="45720" marB="45720" anchor="ctr">
                    <a:solidFill>
                      <a:srgbClr val="F4F7F9"/>
                    </a:solidFill>
                  </a:tcPr>
                </a:tc>
              </a:tr>
              <a:tr h="391391">
                <a:tc>
                  <a:txBody>
                    <a:bodyPr/>
                    <a:lstStyle/>
                    <a:p>
                      <a:pPr algn="l"/>
                      <a:r>
                        <a:rPr sz="1350" b="0">
                          <a:solidFill>
                            <a:srgbClr val="243746"/>
                          </a:solidFill>
                          <a:latin typeface="Arial"/>
                          <a:ea typeface="Arial"/>
                          <a:cs typeface="Arial"/>
                        </a:rPr>
                        <a:t>Краснодар</a:t>
                      </a:r>
                    </a:p>
                  </a:txBody>
                  <a:tcPr marL="91440" marR="91440" marT="45720" marB="45720" anchor="ctr"/>
                </a:tc>
                <a:tc>
                  <a:txBody>
                    <a:bodyPr/>
                    <a:lstStyle/>
                    <a:p>
                      <a:pPr algn="ctr"/>
                      <a:r>
                        <a:rPr sz="1350" b="0">
                          <a:solidFill>
                            <a:srgbClr val="243746"/>
                          </a:solidFill>
                          <a:latin typeface="Arial"/>
                          <a:ea typeface="Arial"/>
                          <a:cs typeface="Arial"/>
                        </a:rPr>
                        <a:t>801</a:t>
                      </a:r>
                    </a:p>
                  </a:txBody>
                  <a:tcPr marL="91440" marR="91440" marT="45720" marB="45720" anchor="ctr"/>
                </a:tc>
                <a:tc>
                  <a:txBody>
                    <a:bodyPr/>
                    <a:lstStyle/>
                    <a:p>
                      <a:pPr algn="ctr"/>
                      <a:r>
                        <a:rPr sz="1350" b="0">
                          <a:solidFill>
                            <a:srgbClr val="243746"/>
                          </a:solidFill>
                          <a:latin typeface="Arial"/>
                          <a:ea typeface="Arial"/>
                          <a:cs typeface="Arial"/>
                        </a:rPr>
                        <a:t>5,43</a:t>
                      </a:r>
                    </a:p>
                  </a:txBody>
                  <a:tcPr marL="91440" marR="91440" marT="45720" marB="45720" anchor="ctr"/>
                </a:tc>
                <a:tc>
                  <a:txBody>
                    <a:bodyPr/>
                    <a:lstStyle/>
                    <a:p>
                      <a:pPr algn="ctr"/>
                      <a:r>
                        <a:rPr sz="1350" b="0">
                          <a:solidFill>
                            <a:srgbClr val="243746"/>
                          </a:solidFill>
                          <a:latin typeface="Arial"/>
                          <a:ea typeface="Arial"/>
                          <a:cs typeface="Arial"/>
                        </a:rPr>
                        <a:t>47,21</a:t>
                      </a:r>
                    </a:p>
                  </a:txBody>
                  <a:tcPr marL="91440" marR="91440" marT="45720" marB="45720" anchor="ctr"/>
                </a:tc>
              </a:tr>
              <a:tr h="391391">
                <a:tc>
                  <a:txBody>
                    <a:bodyPr/>
                    <a:lstStyle/>
                    <a:p>
                      <a:pPr algn="l"/>
                      <a:r>
                        <a:rPr sz="1350" b="0">
                          <a:solidFill>
                            <a:srgbClr val="243746"/>
                          </a:solidFill>
                          <a:latin typeface="Arial"/>
                          <a:ea typeface="Arial"/>
                          <a:cs typeface="Arial"/>
                        </a:rPr>
                        <a:t>Пермь</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757</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5,38</a:t>
                      </a:r>
                    </a:p>
                  </a:txBody>
                  <a:tcPr marL="91440" marR="91440" marT="45720" marB="45720" anchor="ctr">
                    <a:solidFill>
                      <a:srgbClr val="F4F7F9"/>
                    </a:solidFill>
                  </a:tcPr>
                </a:tc>
                <a:tc>
                  <a:txBody>
                    <a:bodyPr/>
                    <a:lstStyle/>
                    <a:p>
                      <a:pPr algn="ctr"/>
                      <a:r>
                        <a:rPr sz="1350" b="0">
                          <a:solidFill>
                            <a:srgbClr val="243746"/>
                          </a:solidFill>
                          <a:latin typeface="Arial"/>
                          <a:ea typeface="Arial"/>
                          <a:cs typeface="Arial"/>
                        </a:rPr>
                        <a:t>46,65</a:t>
                      </a:r>
                    </a:p>
                  </a:txBody>
                  <a:tcPr marL="91440" marR="91440" marT="45720" marB="45720" anchor="ctr">
                    <a:solidFill>
                      <a:srgbClr val="F4F7F9"/>
                    </a:solidFill>
                  </a:tcPr>
                </a:tc>
              </a:tr>
            </a:tbl>
          </a:graphicData>
        </a:graphic>
      </p:graphicFrame>
      <p:sp>
        <p:nvSpPr>
          <p:cNvPr id="5" name="">
            <a:extLst xmlns:a="http://schemas.openxmlformats.org/drawingml/2006/main">
              <a:ext uri="{FF2B5EF4-FFF2-40B4-BE49-F238E27FC236}">
                <a16:creationId xmlns:a16="http://schemas.microsoft.com/office/drawing/2014/main" id="{070CC519-9CF4-48CD-8AF2-4165E48B8BEE}"/>
              </a:ext>
            </a:extLst>
          </p:cNvPr>
          <p:cNvSpPr>
            <a:spLocks xmlns:a="http://schemas.openxmlformats.org/drawingml/2006/main" noGrp="1"/>
          </p:cNvSpPr>
          <p:nvPr/>
        </p:nvSpPr>
        <p:spPr>
          <a:xfrm xmlns:a="http://schemas.openxmlformats.org/drawingml/2006/main">
            <a:off x="9391650" y="2362200"/>
            <a:ext cx="2286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89783"/>
          </a:bodyPr>
          <a:lstStyle xmlns:a="http://schemas.openxmlformats.org/drawingml/2006/main"/>
          <a:p xmlns:a="http://schemas.openxmlformats.org/drawingml/2006/main">
            <a:pPr algn="l">
              <a:defRPr sz="1575" b="0">
                <a:solidFill>
                  <a:srgbClr val="243746"/>
                </a:solidFill>
                <a:latin typeface="Arial"/>
                <a:ea typeface="Arial"/>
                <a:cs typeface="Arial"/>
              </a:defRPr>
            </a:pPr>
            <a:r>
              <a:rPr sz="1575" b="0">
                <a:solidFill>
                  <a:srgbClr val="243746"/>
                </a:solidFill>
                <a:latin typeface="Arial"/>
                <a:ea typeface="Arial"/>
                <a:cs typeface="Arial"/>
              </a:rPr>
              <a:t>Участники по регионам: 745–838.</a:t>
            </a:r>
          </a:p>
          <a:p xmlns:a="http://schemas.openxmlformats.org/drawingml/2006/main">
            <a:r>
              <a:t/>
            </a:r>
          </a:p>
          <a:p xmlns:a="http://schemas.openxmlformats.org/drawingml/2006/main">
            <a:pPr algn="l">
              <a:defRPr sz="1575" b="0">
                <a:solidFill>
                  <a:srgbClr val="243746"/>
                </a:solidFill>
                <a:latin typeface="Arial"/>
                <a:ea typeface="Arial"/>
                <a:cs typeface="Arial"/>
              </a:defRPr>
            </a:pPr>
            <a:r>
              <a:rPr sz="1575" b="0">
                <a:solidFill>
                  <a:srgbClr val="243746"/>
                </a:solidFill>
                <a:latin typeface="Arial"/>
                <a:ea typeface="Arial"/>
                <a:cs typeface="Arial"/>
              </a:rPr>
              <a:t>Без данных о численности школьников нельзя оценить региональный охват.</a:t>
            </a:r>
          </a:p>
        </p:txBody>
      </p:sp>
    </p:spTree>
    <p:extLst>
      <p:ext uri="{BB962C8B-B14F-4D97-AF65-F5344CB8AC3E}">
        <p14:creationId xmlns:p14="http://schemas.microsoft.com/office/powerpoint/2010/main" val="4806170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0BAF7C-EA88-492C-BD30-C3F3E6E503FC}"/>
              </a:ext>
            </a:extLst>
          </p:cNvPr>
          <p:cNvSpPr>
            <a:spLocks xmlns:a="http://schemas.openxmlformats.org/drawingml/2006/main" noGrp="1"/>
          </p:cNvSpPr>
          <p:nvPr/>
        </p:nvSpPr>
        <p:spPr>
          <a:xfrm xmlns:a="http://schemas.openxmlformats.org/drawingml/2006/main">
            <a:off x="609600" y="3238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75589"/>
          </a:bodyPr>
          <a:lstStyle xmlns:a="http://schemas.openxmlformats.org/drawingml/2006/main"/>
          <a:p xmlns:a="http://schemas.openxmlformats.org/drawingml/2006/main">
            <a:pPr algn="l">
              <a:defRPr sz="3000" b="1">
                <a:solidFill>
                  <a:srgbClr val="17324D"/>
                </a:solidFill>
                <a:latin typeface="Arial"/>
                <a:ea typeface="Arial"/>
                <a:cs typeface="Arial"/>
              </a:defRPr>
            </a:pPr>
            <a:r>
              <a:rPr sz="3000" b="1">
                <a:solidFill>
                  <a:srgbClr val="17324D"/>
                </a:solidFill>
                <a:latin typeface="Arial"/>
                <a:ea typeface="Arial"/>
                <a:cs typeface="Arial"/>
              </a:rPr>
              <a:t>Региональный мини-отчёт показывает школы вместе с размером выборки</a:t>
            </a:r>
          </a:p>
        </p:txBody>
      </p:sp>
      <p:sp>
        <p:nvSpPr>
          <p:cNvPr id="2" name="">
            <a:extLst xmlns:a="http://schemas.openxmlformats.org/drawingml/2006/main">
              <a:ext uri="{FF2B5EF4-FFF2-40B4-BE49-F238E27FC236}">
                <a16:creationId xmlns:a16="http://schemas.microsoft.com/office/drawing/2014/main" id="{E23452E7-1692-4FA6-A410-87B8C849E0FD}"/>
              </a:ext>
            </a:extLst>
          </p:cNvPr>
          <p:cNvSpPr>
            <a:spLocks xmlns:a="http://schemas.openxmlformats.org/drawingml/2006/main" noGrp="1"/>
          </p:cNvSpPr>
          <p:nvPr/>
        </p:nvSpPr>
        <p:spPr>
          <a:xfrm xmlns:a="http://schemas.openxmlformats.org/drawingml/2006/main">
            <a:off x="628650" y="91440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575" b="0">
                <a:solidFill>
                  <a:srgbClr val="5D6B78"/>
                </a:solidFill>
                <a:latin typeface="Arial"/>
                <a:ea typeface="Arial"/>
                <a:cs typeface="Arial"/>
              </a:defRPr>
            </a:pPr>
            <a:r>
              <a:rPr sz="1575" b="0">
                <a:solidFill>
                  <a:srgbClr val="5D6B78"/>
                </a:solidFill>
                <a:latin typeface="Arial"/>
                <a:ea typeface="Arial"/>
                <a:cs typeface="Arial"/>
              </a:rPr>
              <a:t>Пример: Москва, 824 участника, 59 школ, средний балл 5,66. Рейтинг ограничен школами с 10+ участниками.</a:t>
            </a:r>
          </a:p>
        </p:txBody>
      </p:sp>
      <p:sp>
        <p:nvSpPr>
          <p:cNvPr id="3" name="">
            <a:extLst xmlns:a="http://schemas.openxmlformats.org/drawingml/2006/main">
              <a:ext uri="{FF2B5EF4-FFF2-40B4-BE49-F238E27FC236}">
                <a16:creationId xmlns:a16="http://schemas.microsoft.com/office/drawing/2014/main" id="{5C3728DF-9CC5-460B-80F5-F91AB0846616}"/>
              </a:ext>
            </a:extLst>
          </p:cNvPr>
          <p:cNvSpPr>
            <a:spLocks xmlns:a="http://schemas.openxmlformats.org/drawingml/2006/main" noGrp="1"/>
          </p:cNvSpPr>
          <p:nvPr/>
        </p:nvSpPr>
        <p:spPr>
          <a:xfrm xmlns:a="http://schemas.openxmlformats.org/drawingml/2006/main">
            <a:off x="609600" y="65151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66667"/>
          </a:bodyPr>
          <a:lstStyle xmlns:a="http://schemas.openxmlformats.org/drawingml/2006/main"/>
          <a:p xmlns:a="http://schemas.openxmlformats.org/drawingml/2006/main">
            <a:pPr algn="l">
              <a:defRPr sz="975" b="0">
                <a:solidFill>
                  <a:srgbClr val="5D6B78"/>
                </a:solidFill>
                <a:latin typeface="Arial"/>
                <a:ea typeface="Arial"/>
                <a:cs typeface="Arial"/>
              </a:defRPr>
            </a:pPr>
            <a:r>
              <a:rPr sz="975" b="0">
                <a:solidFill>
                  <a:srgbClr val="5D6B78"/>
                </a:solidFill>
                <a:latin typeface="Arial"/>
                <a:ea typeface="Arial"/>
                <a:cs typeface="Arial"/>
              </a:rPr>
              <a:t>Источник: результаты олимпиады и словарь данных</a:t>
            </a:r>
          </a:p>
        </p:txBody>
      </p:sp>
      <p:graphicFrame>
        <p:nvGraphicFramePr>
          <p:cNvPr id="9" name=""/>
          <p:cNvGraphicFramePr/>
          <p:nvPr/>
        </p:nvGraphicFramePr>
        <p:xfrm>
          <a:off xmlns:a="http://schemas.openxmlformats.org/drawingml/2006/main" x="990600" y="1885950"/>
          <a:ext xmlns:a="http://schemas.openxmlformats.org/drawingml/2006/main" cx="10210800" cy="3333750"/>
        </p:xfrm>
        <a:graphic xmlns:a="http://schemas.openxmlformats.org/drawingml/2006/main">
          <a:graphicData uri="http://schemas.openxmlformats.org/drawingml/2006/table">
            <a:tbl>
              <a:tblPr firstRow="1" bandRow="1"/>
              <a:tblGrid>
                <a:gridCol w="2552700"/>
                <a:gridCol w="2552700"/>
                <a:gridCol w="2552700"/>
                <a:gridCol w="2552700"/>
              </a:tblGrid>
              <a:tr h="555625">
                <a:tc>
                  <a:txBody>
                    <a:bodyPr/>
                    <a:lstStyle/>
                    <a:p>
                      <a:pPr algn="l"/>
                      <a:r>
                        <a:rPr sz="1500" b="1">
                          <a:solidFill>
                            <a:srgbClr val="FFFFFF"/>
                          </a:solidFill>
                          <a:latin typeface="Arial"/>
                          <a:ea typeface="Arial"/>
                          <a:cs typeface="Arial"/>
                        </a:rPr>
                        <a:t>Школа</a:t>
                      </a:r>
                    </a:p>
                  </a:txBody>
                  <a:tcPr marL="91440" marR="91440" marT="45720" marB="45720" anchor="ctr">
                    <a:solidFill>
                      <a:srgbClr val="17324D"/>
                    </a:solidFill>
                  </a:tcPr>
                </a:tc>
                <a:tc>
                  <a:txBody>
                    <a:bodyPr/>
                    <a:lstStyle/>
                    <a:p>
                      <a:pPr algn="ctr"/>
                      <a:r>
                        <a:rPr sz="1500" b="1">
                          <a:solidFill>
                            <a:srgbClr val="FFFFFF"/>
                          </a:solidFill>
                          <a:latin typeface="Arial"/>
                          <a:ea typeface="Arial"/>
                          <a:cs typeface="Arial"/>
                        </a:rPr>
                        <a:t>Участники</a:t>
                      </a:r>
                    </a:p>
                  </a:txBody>
                  <a:tcPr marL="91440" marR="91440" marT="45720" marB="45720" anchor="ctr">
                    <a:solidFill>
                      <a:srgbClr val="17324D"/>
                    </a:solidFill>
                  </a:tcPr>
                </a:tc>
                <a:tc>
                  <a:txBody>
                    <a:bodyPr/>
                    <a:lstStyle/>
                    <a:p>
                      <a:pPr algn="ctr"/>
                      <a:r>
                        <a:rPr sz="1500" b="1">
                          <a:solidFill>
                            <a:srgbClr val="FFFFFF"/>
                          </a:solidFill>
                          <a:latin typeface="Arial"/>
                          <a:ea typeface="Arial"/>
                          <a:cs typeface="Arial"/>
                        </a:rPr>
                        <a:t>Средний балл</a:t>
                      </a:r>
                    </a:p>
                  </a:txBody>
                  <a:tcPr marL="91440" marR="91440" marT="45720" marB="45720" anchor="ctr">
                    <a:solidFill>
                      <a:srgbClr val="17324D"/>
                    </a:solidFill>
                  </a:tcPr>
                </a:tc>
                <a:tc>
                  <a:txBody>
                    <a:bodyPr/>
                    <a:lstStyle/>
                    <a:p>
                      <a:pPr algn="ctr"/>
                      <a:r>
                        <a:rPr sz="1500" b="1">
                          <a:solidFill>
                            <a:srgbClr val="FFFFFF"/>
                          </a:solidFill>
                          <a:latin typeface="Arial"/>
                          <a:ea typeface="Arial"/>
                          <a:cs typeface="Arial"/>
                        </a:rPr>
                        <a:t>Медиана</a:t>
                      </a:r>
                    </a:p>
                  </a:txBody>
                  <a:tcPr marL="91440" marR="91440" marT="45720" marB="45720" anchor="ctr">
                    <a:solidFill>
                      <a:srgbClr val="17324D"/>
                    </a:solidFill>
                  </a:tcPr>
                </a:tc>
              </a:tr>
              <a:tr h="555625">
                <a:tc>
                  <a:txBody>
                    <a:bodyPr/>
                    <a:lstStyle/>
                    <a:p>
                      <a:pPr algn="l"/>
                      <a:r>
                        <a:rPr sz="1650" b="0">
                          <a:solidFill>
                            <a:srgbClr val="243746"/>
                          </a:solidFill>
                          <a:latin typeface="Arial"/>
                          <a:ea typeface="Arial"/>
                          <a:cs typeface="Arial"/>
                        </a:rPr>
                        <a:t>№ 26</a:t>
                      </a:r>
                    </a:p>
                  </a:txBody>
                  <a:tcPr marL="91440" marR="91440" marT="45720" marB="45720" anchor="ctr"/>
                </a:tc>
                <a:tc>
                  <a:txBody>
                    <a:bodyPr/>
                    <a:lstStyle/>
                    <a:p>
                      <a:pPr algn="ctr"/>
                      <a:r>
                        <a:rPr sz="1650" b="0">
                          <a:solidFill>
                            <a:srgbClr val="243746"/>
                          </a:solidFill>
                          <a:latin typeface="Arial"/>
                          <a:ea typeface="Arial"/>
                          <a:cs typeface="Arial"/>
                        </a:rPr>
                        <a:t>10</a:t>
                      </a:r>
                    </a:p>
                  </a:txBody>
                  <a:tcPr marL="91440" marR="91440" marT="45720" marB="45720" anchor="ctr"/>
                </a:tc>
                <a:tc>
                  <a:txBody>
                    <a:bodyPr/>
                    <a:lstStyle/>
                    <a:p>
                      <a:pPr algn="ctr"/>
                      <a:r>
                        <a:rPr sz="1650" b="0">
                          <a:solidFill>
                            <a:srgbClr val="243746"/>
                          </a:solidFill>
                          <a:latin typeface="Arial"/>
                          <a:ea typeface="Arial"/>
                          <a:cs typeface="Arial"/>
                        </a:rPr>
                        <a:t>7,50</a:t>
                      </a:r>
                    </a:p>
                  </a:txBody>
                  <a:tcPr marL="91440" marR="91440" marT="45720" marB="45720" anchor="ctr"/>
                </a:tc>
                <a:tc>
                  <a:txBody>
                    <a:bodyPr/>
                    <a:lstStyle/>
                    <a:p>
                      <a:pPr algn="ctr"/>
                      <a:r>
                        <a:rPr sz="1650" b="0">
                          <a:solidFill>
                            <a:srgbClr val="243746"/>
                          </a:solidFill>
                          <a:latin typeface="Arial"/>
                          <a:ea typeface="Arial"/>
                          <a:cs typeface="Arial"/>
                        </a:rPr>
                        <a:t>8,0</a:t>
                      </a:r>
                    </a:p>
                  </a:txBody>
                  <a:tcPr marL="91440" marR="91440" marT="45720" marB="45720" anchor="ctr"/>
                </a:tc>
              </a:tr>
              <a:tr h="555625">
                <a:tc>
                  <a:txBody>
                    <a:bodyPr/>
                    <a:lstStyle/>
                    <a:p>
                      <a:pPr algn="l"/>
                      <a:r>
                        <a:rPr sz="1650" b="0">
                          <a:solidFill>
                            <a:srgbClr val="243746"/>
                          </a:solidFill>
                          <a:latin typeface="Arial"/>
                          <a:ea typeface="Arial"/>
                          <a:cs typeface="Arial"/>
                        </a:rPr>
                        <a:t>№ 4</a:t>
                      </a:r>
                    </a:p>
                  </a:txBody>
                  <a:tcPr marL="91440" marR="91440" marT="45720" marB="45720" anchor="ctr">
                    <a:solidFill>
                      <a:srgbClr val="F4F7F9"/>
                    </a:solidFill>
                  </a:tcPr>
                </a:tc>
                <a:tc>
                  <a:txBody>
                    <a:bodyPr/>
                    <a:lstStyle/>
                    <a:p>
                      <a:pPr algn="ctr"/>
                      <a:r>
                        <a:rPr sz="1650" b="0">
                          <a:solidFill>
                            <a:srgbClr val="243746"/>
                          </a:solidFill>
                          <a:latin typeface="Arial"/>
                          <a:ea typeface="Arial"/>
                          <a:cs typeface="Arial"/>
                        </a:rPr>
                        <a:t>14</a:t>
                      </a:r>
                    </a:p>
                  </a:txBody>
                  <a:tcPr marL="91440" marR="91440" marT="45720" marB="45720" anchor="ctr">
                    <a:solidFill>
                      <a:srgbClr val="F4F7F9"/>
                    </a:solidFill>
                  </a:tcPr>
                </a:tc>
                <a:tc>
                  <a:txBody>
                    <a:bodyPr/>
                    <a:lstStyle/>
                    <a:p>
                      <a:pPr algn="ctr"/>
                      <a:r>
                        <a:rPr sz="1650" b="0">
                          <a:solidFill>
                            <a:srgbClr val="243746"/>
                          </a:solidFill>
                          <a:latin typeface="Arial"/>
                          <a:ea typeface="Arial"/>
                          <a:cs typeface="Arial"/>
                        </a:rPr>
                        <a:t>7,36</a:t>
                      </a:r>
                    </a:p>
                  </a:txBody>
                  <a:tcPr marL="91440" marR="91440" marT="45720" marB="45720" anchor="ctr">
                    <a:solidFill>
                      <a:srgbClr val="F4F7F9"/>
                    </a:solidFill>
                  </a:tcPr>
                </a:tc>
                <a:tc>
                  <a:txBody>
                    <a:bodyPr/>
                    <a:lstStyle/>
                    <a:p>
                      <a:pPr algn="ctr"/>
                      <a:r>
                        <a:rPr sz="1650" b="0">
                          <a:solidFill>
                            <a:srgbClr val="243746"/>
                          </a:solidFill>
                          <a:latin typeface="Arial"/>
                          <a:ea typeface="Arial"/>
                          <a:cs typeface="Arial"/>
                        </a:rPr>
                        <a:t>7,0</a:t>
                      </a:r>
                    </a:p>
                  </a:txBody>
                  <a:tcPr marL="91440" marR="91440" marT="45720" marB="45720" anchor="ctr">
                    <a:solidFill>
                      <a:srgbClr val="F4F7F9"/>
                    </a:solidFill>
                  </a:tcPr>
                </a:tc>
              </a:tr>
              <a:tr h="555625">
                <a:tc>
                  <a:txBody>
                    <a:bodyPr/>
                    <a:lstStyle/>
                    <a:p>
                      <a:pPr algn="l"/>
                      <a:r>
                        <a:rPr sz="1650" b="0">
                          <a:solidFill>
                            <a:srgbClr val="243746"/>
                          </a:solidFill>
                          <a:latin typeface="Arial"/>
                          <a:ea typeface="Arial"/>
                          <a:cs typeface="Arial"/>
                        </a:rPr>
                        <a:t>№ 43</a:t>
                      </a:r>
                    </a:p>
                  </a:txBody>
                  <a:tcPr marL="91440" marR="91440" marT="45720" marB="45720" anchor="ctr"/>
                </a:tc>
                <a:tc>
                  <a:txBody>
                    <a:bodyPr/>
                    <a:lstStyle/>
                    <a:p>
                      <a:pPr algn="ctr"/>
                      <a:r>
                        <a:rPr sz="1650" b="0">
                          <a:solidFill>
                            <a:srgbClr val="243746"/>
                          </a:solidFill>
                          <a:latin typeface="Arial"/>
                          <a:ea typeface="Arial"/>
                          <a:cs typeface="Arial"/>
                        </a:rPr>
                        <a:t>12</a:t>
                      </a:r>
                    </a:p>
                  </a:txBody>
                  <a:tcPr marL="91440" marR="91440" marT="45720" marB="45720" anchor="ctr"/>
                </a:tc>
                <a:tc>
                  <a:txBody>
                    <a:bodyPr/>
                    <a:lstStyle/>
                    <a:p>
                      <a:pPr algn="ctr"/>
                      <a:r>
                        <a:rPr sz="1650" b="0">
                          <a:solidFill>
                            <a:srgbClr val="243746"/>
                          </a:solidFill>
                          <a:latin typeface="Arial"/>
                          <a:ea typeface="Arial"/>
                          <a:cs typeface="Arial"/>
                        </a:rPr>
                        <a:t>6,83</a:t>
                      </a:r>
                    </a:p>
                  </a:txBody>
                  <a:tcPr marL="91440" marR="91440" marT="45720" marB="45720" anchor="ctr"/>
                </a:tc>
                <a:tc>
                  <a:txBody>
                    <a:bodyPr/>
                    <a:lstStyle/>
                    <a:p>
                      <a:pPr algn="ctr"/>
                      <a:r>
                        <a:rPr sz="1650" b="0">
                          <a:solidFill>
                            <a:srgbClr val="243746"/>
                          </a:solidFill>
                          <a:latin typeface="Arial"/>
                          <a:ea typeface="Arial"/>
                          <a:cs typeface="Arial"/>
                        </a:rPr>
                        <a:t>7,0</a:t>
                      </a:r>
                    </a:p>
                  </a:txBody>
                  <a:tcPr marL="91440" marR="91440" marT="45720" marB="45720" anchor="ctr"/>
                </a:tc>
              </a:tr>
              <a:tr h="555625">
                <a:tc>
                  <a:txBody>
                    <a:bodyPr/>
                    <a:lstStyle/>
                    <a:p>
                      <a:pPr algn="l"/>
                      <a:r>
                        <a:rPr sz="1650" b="0">
                          <a:solidFill>
                            <a:srgbClr val="243746"/>
                          </a:solidFill>
                          <a:latin typeface="Arial"/>
                          <a:ea typeface="Arial"/>
                          <a:cs typeface="Arial"/>
                        </a:rPr>
                        <a:t>№ 34</a:t>
                      </a:r>
                    </a:p>
                  </a:txBody>
                  <a:tcPr marL="91440" marR="91440" marT="45720" marB="45720" anchor="ctr">
                    <a:solidFill>
                      <a:srgbClr val="F4F7F9"/>
                    </a:solidFill>
                  </a:tcPr>
                </a:tc>
                <a:tc>
                  <a:txBody>
                    <a:bodyPr/>
                    <a:lstStyle/>
                    <a:p>
                      <a:pPr algn="ctr"/>
                      <a:r>
                        <a:rPr sz="1650" b="0">
                          <a:solidFill>
                            <a:srgbClr val="243746"/>
                          </a:solidFill>
                          <a:latin typeface="Arial"/>
                          <a:ea typeface="Arial"/>
                          <a:cs typeface="Arial"/>
                        </a:rPr>
                        <a:t>19</a:t>
                      </a:r>
                    </a:p>
                  </a:txBody>
                  <a:tcPr marL="91440" marR="91440" marT="45720" marB="45720" anchor="ctr">
                    <a:solidFill>
                      <a:srgbClr val="F4F7F9"/>
                    </a:solidFill>
                  </a:tcPr>
                </a:tc>
                <a:tc>
                  <a:txBody>
                    <a:bodyPr/>
                    <a:lstStyle/>
                    <a:p>
                      <a:pPr algn="ctr"/>
                      <a:r>
                        <a:rPr sz="1650" b="0">
                          <a:solidFill>
                            <a:srgbClr val="243746"/>
                          </a:solidFill>
                          <a:latin typeface="Arial"/>
                          <a:ea typeface="Arial"/>
                          <a:cs typeface="Arial"/>
                        </a:rPr>
                        <a:t>6,79</a:t>
                      </a:r>
                    </a:p>
                  </a:txBody>
                  <a:tcPr marL="91440" marR="91440" marT="45720" marB="45720" anchor="ctr">
                    <a:solidFill>
                      <a:srgbClr val="F4F7F9"/>
                    </a:solidFill>
                  </a:tcPr>
                </a:tc>
                <a:tc>
                  <a:txBody>
                    <a:bodyPr/>
                    <a:lstStyle/>
                    <a:p>
                      <a:pPr algn="ctr"/>
                      <a:r>
                        <a:rPr sz="1650" b="0">
                          <a:solidFill>
                            <a:srgbClr val="243746"/>
                          </a:solidFill>
                          <a:latin typeface="Arial"/>
                          <a:ea typeface="Arial"/>
                          <a:cs typeface="Arial"/>
                        </a:rPr>
                        <a:t>7,0</a:t>
                      </a:r>
                    </a:p>
                  </a:txBody>
                  <a:tcPr marL="91440" marR="91440" marT="45720" marB="45720" anchor="ctr">
                    <a:solidFill>
                      <a:srgbClr val="F4F7F9"/>
                    </a:solidFill>
                  </a:tcPr>
                </a:tc>
              </a:tr>
              <a:tr h="555625">
                <a:tc>
                  <a:txBody>
                    <a:bodyPr/>
                    <a:lstStyle/>
                    <a:p>
                      <a:pPr algn="l"/>
                      <a:r>
                        <a:rPr sz="1650" b="0">
                          <a:solidFill>
                            <a:srgbClr val="243746"/>
                          </a:solidFill>
                          <a:latin typeface="Arial"/>
                          <a:ea typeface="Arial"/>
                          <a:cs typeface="Arial"/>
                        </a:rPr>
                        <a:t>№ 28</a:t>
                      </a:r>
                    </a:p>
                  </a:txBody>
                  <a:tcPr marL="91440" marR="91440" marT="45720" marB="45720" anchor="ctr"/>
                </a:tc>
                <a:tc>
                  <a:txBody>
                    <a:bodyPr/>
                    <a:lstStyle/>
                    <a:p>
                      <a:pPr algn="ctr"/>
                      <a:r>
                        <a:rPr sz="1650" b="0">
                          <a:solidFill>
                            <a:srgbClr val="243746"/>
                          </a:solidFill>
                          <a:latin typeface="Arial"/>
                          <a:ea typeface="Arial"/>
                          <a:cs typeface="Arial"/>
                        </a:rPr>
                        <a:t>16</a:t>
                      </a:r>
                    </a:p>
                  </a:txBody>
                  <a:tcPr marL="91440" marR="91440" marT="45720" marB="45720" anchor="ctr"/>
                </a:tc>
                <a:tc>
                  <a:txBody>
                    <a:bodyPr/>
                    <a:lstStyle/>
                    <a:p>
                      <a:pPr algn="ctr"/>
                      <a:r>
                        <a:rPr sz="1650" b="0">
                          <a:solidFill>
                            <a:srgbClr val="243746"/>
                          </a:solidFill>
                          <a:latin typeface="Arial"/>
                          <a:ea typeface="Arial"/>
                          <a:cs typeface="Arial"/>
                        </a:rPr>
                        <a:t>6,75</a:t>
                      </a:r>
                    </a:p>
                  </a:txBody>
                  <a:tcPr marL="91440" marR="91440" marT="45720" marB="45720" anchor="ctr"/>
                </a:tc>
                <a:tc>
                  <a:txBody>
                    <a:bodyPr/>
                    <a:lstStyle/>
                    <a:p>
                      <a:pPr algn="ctr"/>
                      <a:r>
                        <a:rPr sz="1650" b="0">
                          <a:solidFill>
                            <a:srgbClr val="243746"/>
                          </a:solidFill>
                          <a:latin typeface="Arial"/>
                          <a:ea typeface="Arial"/>
                          <a:cs typeface="Arial"/>
                        </a:rPr>
                        <a:t>7,5</a:t>
                      </a:r>
                    </a:p>
                  </a:txBody>
                  <a:tcPr marL="91440" marR="91440" marT="45720" marB="45720" anchor="ctr"/>
                </a:tc>
              </a:tr>
            </a:tbl>
          </a:graphicData>
        </a:graphic>
      </p:graphicFrame>
      <p:sp>
        <p:nvSpPr>
          <p:cNvPr id="5" name="">
            <a:extLst xmlns:a="http://schemas.openxmlformats.org/drawingml/2006/main">
              <a:ext uri="{FF2B5EF4-FFF2-40B4-BE49-F238E27FC236}">
                <a16:creationId xmlns:a16="http://schemas.microsoft.com/office/drawing/2014/main" id="{A5B9A135-4C96-414E-A04C-251C3D7E629C}"/>
              </a:ext>
            </a:extLst>
          </p:cNvPr>
          <p:cNvSpPr>
            <a:spLocks xmlns:a="http://schemas.openxmlformats.org/drawingml/2006/main" noGrp="1"/>
          </p:cNvSpPr>
          <p:nvPr/>
        </p:nvSpPr>
        <p:spPr>
          <a:xfrm xmlns:a="http://schemas.openxmlformats.org/drawingml/2006/main">
            <a:off x="1000125" y="5467350"/>
            <a:ext cx="1019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500" b="0">
                <a:solidFill>
                  <a:srgbClr val="5D6B78"/>
                </a:solidFill>
                <a:latin typeface="Arial"/>
                <a:ea typeface="Arial"/>
                <a:cs typeface="Arial"/>
              </a:defRPr>
            </a:pPr>
            <a:r>
              <a:rPr sz="1500" b="0">
                <a:solidFill>
                  <a:srgbClr val="5D6B78"/>
                </a:solidFill>
                <a:latin typeface="Arial"/>
                <a:ea typeface="Arial"/>
                <a:cs typeface="Arial"/>
              </a:rPr>
              <a:t>Рейтинг предназначен для сравнения школ внутри региона. Небольшие выборки делают средний балл менее устойчивым.</a:t>
            </a:r>
          </a:p>
        </p:txBody>
      </p:sp>
    </p:spTree>
    <p:extLst>
      <p:ext uri="{BB962C8B-B14F-4D97-AF65-F5344CB8AC3E}">
        <p14:creationId xmlns:p14="http://schemas.microsoft.com/office/powerpoint/2010/main" val="1609746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1F3CB9-8B41-4C9F-89D6-4058E6FFCF5E}"/>
              </a:ext>
            </a:extLst>
          </p:cNvPr>
          <p:cNvSpPr>
            <a:spLocks xmlns:a="http://schemas.openxmlformats.org/drawingml/2006/main" noGrp="1"/>
          </p:cNvSpPr>
          <p:nvPr/>
        </p:nvSpPr>
        <p:spPr>
          <a:xfrm xmlns:a="http://schemas.openxmlformats.org/drawingml/2006/main">
            <a:off x="609600" y="3238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81626"/>
          </a:bodyPr>
          <a:lstStyle xmlns:a="http://schemas.openxmlformats.org/drawingml/2006/main"/>
          <a:p xmlns:a="http://schemas.openxmlformats.org/drawingml/2006/main">
            <a:pPr algn="l">
              <a:defRPr sz="3000" b="1">
                <a:solidFill>
                  <a:srgbClr val="17324D"/>
                </a:solidFill>
                <a:latin typeface="Arial"/>
                <a:ea typeface="Arial"/>
                <a:cs typeface="Arial"/>
              </a:defRPr>
            </a:pPr>
            <a:r>
              <a:rPr sz="3000" b="1">
                <a:solidFill>
                  <a:srgbClr val="17324D"/>
                </a:solidFill>
                <a:latin typeface="Arial"/>
                <a:ea typeface="Arial"/>
                <a:cs typeface="Arial"/>
              </a:rPr>
              <a:t>Мобильные результаты сопоставимы с результатами на компьютере</a:t>
            </a:r>
          </a:p>
        </p:txBody>
      </p:sp>
      <p:sp>
        <p:nvSpPr>
          <p:cNvPr id="2" name="">
            <a:extLst xmlns:a="http://schemas.openxmlformats.org/drawingml/2006/main">
              <a:ext uri="{FF2B5EF4-FFF2-40B4-BE49-F238E27FC236}">
                <a16:creationId xmlns:a16="http://schemas.microsoft.com/office/drawing/2014/main" id="{9A928377-C8E7-4F8D-8633-34876BC4CC9A}"/>
              </a:ext>
            </a:extLst>
          </p:cNvPr>
          <p:cNvSpPr>
            <a:spLocks xmlns:a="http://schemas.openxmlformats.org/drawingml/2006/main" noGrp="1"/>
          </p:cNvSpPr>
          <p:nvPr/>
        </p:nvSpPr>
        <p:spPr>
          <a:xfrm xmlns:a="http://schemas.openxmlformats.org/drawingml/2006/main">
            <a:off x="628650" y="91440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575" b="0">
                <a:solidFill>
                  <a:srgbClr val="5D6B78"/>
                </a:solidFill>
                <a:latin typeface="Arial"/>
                <a:ea typeface="Arial"/>
                <a:cs typeface="Arial"/>
              </a:defRPr>
            </a:pPr>
            <a:r>
              <a:rPr sz="1575" b="0">
                <a:solidFill>
                  <a:srgbClr val="5D6B78"/>
                </a:solidFill>
                <a:latin typeface="Arial"/>
                <a:ea typeface="Arial"/>
                <a:cs typeface="Arial"/>
              </a:rPr>
              <a:t>Средний балл по типу устройства: desktop 5,53; mobile 5,57; tablet 5,60.</a:t>
            </a:r>
          </a:p>
        </p:txBody>
      </p:sp>
      <p:sp>
        <p:nvSpPr>
          <p:cNvPr id="3" name="">
            <a:extLst xmlns:a="http://schemas.openxmlformats.org/drawingml/2006/main">
              <a:ext uri="{FF2B5EF4-FFF2-40B4-BE49-F238E27FC236}">
                <a16:creationId xmlns:a16="http://schemas.microsoft.com/office/drawing/2014/main" id="{F16F6BAE-37D0-40A0-A8D8-EFAB099E59B9}"/>
              </a:ext>
            </a:extLst>
          </p:cNvPr>
          <p:cNvSpPr>
            <a:spLocks xmlns:a="http://schemas.openxmlformats.org/drawingml/2006/main" noGrp="1"/>
          </p:cNvSpPr>
          <p:nvPr/>
        </p:nvSpPr>
        <p:spPr>
          <a:xfrm xmlns:a="http://schemas.openxmlformats.org/drawingml/2006/main">
            <a:off x="609600" y="65151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66667"/>
          </a:bodyPr>
          <a:lstStyle xmlns:a="http://schemas.openxmlformats.org/drawingml/2006/main"/>
          <a:p xmlns:a="http://schemas.openxmlformats.org/drawingml/2006/main">
            <a:pPr algn="l">
              <a:defRPr sz="975" b="0">
                <a:solidFill>
                  <a:srgbClr val="5D6B78"/>
                </a:solidFill>
                <a:latin typeface="Arial"/>
                <a:ea typeface="Arial"/>
                <a:cs typeface="Arial"/>
              </a:defRPr>
            </a:pPr>
            <a:r>
              <a:rPr sz="975" b="0">
                <a:solidFill>
                  <a:srgbClr val="5D6B78"/>
                </a:solidFill>
                <a:latin typeface="Arial"/>
                <a:ea typeface="Arial"/>
                <a:cs typeface="Arial"/>
              </a:rPr>
              <a:t>Источник: результаты олимпиады и словарь данных</a:t>
            </a:r>
          </a:p>
        </p:txBody>
      </p:sp>
      <p:sp>
        <p:nvSpPr>
          <p:cNvPr id="4" name="">
            <a:extLst xmlns:a="http://schemas.openxmlformats.org/drawingml/2006/main">
              <a:ext uri="{FF2B5EF4-FFF2-40B4-BE49-F238E27FC236}">
                <a16:creationId xmlns:a16="http://schemas.microsoft.com/office/drawing/2014/main" id="{F4541424-057C-4BC8-8BA6-0FA596C57CD8}"/>
              </a:ext>
            </a:extLst>
          </p:cNvPr>
          <p:cNvSpPr>
            <a:spLocks xmlns:a="http://schemas.openxmlformats.org/drawingml/2006/main" noGrp="1"/>
          </p:cNvSpPr>
          <p:nvPr/>
        </p:nvSpPr>
        <p:spPr>
          <a:xfrm xmlns:a="http://schemas.openxmlformats.org/drawingml/2006/main">
            <a:off x="819150" y="1504950"/>
            <a:ext cx="481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85000"/>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Устройства участников</a:t>
            </a:r>
          </a:p>
        </p:txBody>
      </p:sp>
      <p:sp>
        <p:nvSpPr>
          <p:cNvPr id="5" name="">
            <a:extLst xmlns:a="http://schemas.openxmlformats.org/drawingml/2006/main">
              <a:ext uri="{FF2B5EF4-FFF2-40B4-BE49-F238E27FC236}">
                <a16:creationId xmlns:a16="http://schemas.microsoft.com/office/drawing/2014/main" id="{06006506-1404-4EFE-9BC2-9079D6F0D8BB}"/>
              </a:ext>
            </a:extLst>
          </p:cNvPr>
          <p:cNvSpPr>
            <a:spLocks xmlns:a="http://schemas.openxmlformats.org/drawingml/2006/main" noGrp="1"/>
          </p:cNvSpPr>
          <p:nvPr/>
        </p:nvSpPr>
        <p:spPr>
          <a:xfrm xmlns:a="http://schemas.openxmlformats.org/drawingml/2006/main">
            <a:off x="6381750" y="15049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85000"/>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Разрывы соединения</a:t>
            </a:r>
          </a:p>
        </p:txBody>
      </p:sp>
      <p:graphicFrame>
        <p:nvGraphicFramePr>
          <p:cNvPr id="14" name="Chart"/>
          <p:cNvGraphicFramePr/>
          <p:nvPr/>
        </p:nvGraphicFramePr>
        <p:xfrm>
          <a:off xmlns:a="http://schemas.openxmlformats.org/drawingml/2006/main" x="666750" y="1847850"/>
          <a:ext xmlns:a="http://schemas.openxmlformats.org/drawingml/2006/main" cx="5334000" cy="3476625"/>
        </p:xfrm>
        <a:graphic xmlns:a="http://schemas.openxmlformats.org/drawingml/2006/main">
          <a:graphicData uri="http://schemas.openxmlformats.org/drawingml/2006/chart">
            <c:chart xmlns:r="http://schemas.openxmlformats.org/officeDocument/2006/relationships" xmlns:c="http://schemas.openxmlformats.org/drawingml/2006/chart" r:id="Re213486632b14653"/>
          </a:graphicData>
        </a:graphic>
      </p:graphicFrame>
      <p:graphicFrame>
        <p:nvGraphicFramePr>
          <p:cNvPr id="15" name="Chart"/>
          <p:cNvGraphicFramePr/>
          <p:nvPr/>
        </p:nvGraphicFramePr>
        <p:xfrm>
          <a:off xmlns:a="http://schemas.openxmlformats.org/drawingml/2006/main" x="6191250" y="1847850"/>
          <a:ext xmlns:a="http://schemas.openxmlformats.org/drawingml/2006/main" cx="5334000" cy="3476625"/>
        </p:xfrm>
        <a:graphic xmlns:a="http://schemas.openxmlformats.org/drawingml/2006/main">
          <a:graphicData uri="http://schemas.openxmlformats.org/drawingml/2006/chart">
            <c:chart xmlns:r="http://schemas.openxmlformats.org/officeDocument/2006/relationships" xmlns:c="http://schemas.openxmlformats.org/drawingml/2006/chart" r:id="Rd3d3fac3645b4037"/>
          </a:graphicData>
        </a:graphic>
      </p:graphicFrame>
      <p:sp>
        <p:nvSpPr>
          <p:cNvPr id="8" name="">
            <a:extLst xmlns:a="http://schemas.openxmlformats.org/drawingml/2006/main">
              <a:ext uri="{FF2B5EF4-FFF2-40B4-BE49-F238E27FC236}">
                <a16:creationId xmlns:a16="http://schemas.microsoft.com/office/drawing/2014/main" id="{4310B1FC-0F80-4BCC-B892-3CCEFC720142}"/>
              </a:ext>
            </a:extLst>
          </p:cNvPr>
          <p:cNvSpPr>
            <a:spLocks xmlns:a="http://schemas.openxmlformats.org/drawingml/2006/main" noGrp="1"/>
          </p:cNvSpPr>
          <p:nvPr/>
        </p:nvSpPr>
        <p:spPr>
          <a:xfrm xmlns:a="http://schemas.openxmlformats.org/drawingml/2006/main">
            <a:off x="876300" y="55245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500" b="0">
                <a:solidFill>
                  <a:srgbClr val="243746"/>
                </a:solidFill>
                <a:latin typeface="Arial"/>
                <a:ea typeface="Arial"/>
                <a:cs typeface="Arial"/>
              </a:defRPr>
            </a:pPr>
            <a:r>
              <a:rPr sz="1500" b="0">
                <a:solidFill>
                  <a:srgbClr val="243746"/>
                </a:solidFill>
                <a:latin typeface="Arial"/>
                <a:ea typeface="Arial"/>
                <a:cs typeface="Arial"/>
              </a:rPr>
              <a:t>35,5% проходили олимпиаду с телефона. В 17,5% сессий был хотя бы один разрыв; в 82,5% разрывов не было.</a:t>
            </a:r>
          </a:p>
        </p:txBody>
      </p:sp>
    </p:spTree>
    <p:extLst>
      <p:ext uri="{BB962C8B-B14F-4D97-AF65-F5344CB8AC3E}">
        <p14:creationId xmlns:p14="http://schemas.microsoft.com/office/powerpoint/2010/main" val="19891534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B6C2ED-279E-4E91-9D3C-344FEA4B8696}"/>
              </a:ext>
            </a:extLst>
          </p:cNvPr>
          <p:cNvSpPr>
            <a:spLocks xmlns:a="http://schemas.openxmlformats.org/drawingml/2006/main" noGrp="1"/>
          </p:cNvSpPr>
          <p:nvPr/>
        </p:nvSpPr>
        <p:spPr>
          <a:xfrm xmlns:a="http://schemas.openxmlformats.org/drawingml/2006/main">
            <a:off x="609600" y="3238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94784"/>
          </a:bodyPr>
          <a:lstStyle xmlns:a="http://schemas.openxmlformats.org/drawingml/2006/main"/>
          <a:p xmlns:a="http://schemas.openxmlformats.org/drawingml/2006/main">
            <a:pPr algn="l">
              <a:defRPr sz="3000" b="1">
                <a:solidFill>
                  <a:srgbClr val="17324D"/>
                </a:solidFill>
                <a:latin typeface="Arial"/>
                <a:ea typeface="Arial"/>
                <a:cs typeface="Arial"/>
              </a:defRPr>
            </a:pPr>
            <a:r>
              <a:rPr sz="3000" b="1">
                <a:solidFill>
                  <a:srgbClr val="17324D"/>
                </a:solidFill>
                <a:latin typeface="Arial"/>
                <a:ea typeface="Arial"/>
                <a:cs typeface="Arial"/>
              </a:rPr>
              <a:t>Рекомендации для образовательной и продуктовой команд</a:t>
            </a:r>
          </a:p>
        </p:txBody>
      </p:sp>
      <p:sp>
        <p:nvSpPr>
          <p:cNvPr id="2" name="">
            <a:extLst xmlns:a="http://schemas.openxmlformats.org/drawingml/2006/main">
              <a:ext uri="{FF2B5EF4-FFF2-40B4-BE49-F238E27FC236}">
                <a16:creationId xmlns:a16="http://schemas.microsoft.com/office/drawing/2014/main" id="{2D79DF49-118B-45ED-B3F6-DE3B25C3A806}"/>
              </a:ext>
            </a:extLst>
          </p:cNvPr>
          <p:cNvSpPr>
            <a:spLocks xmlns:a="http://schemas.openxmlformats.org/drawingml/2006/main" noGrp="1"/>
          </p:cNvSpPr>
          <p:nvPr/>
        </p:nvSpPr>
        <p:spPr>
          <a:xfrm xmlns:a="http://schemas.openxmlformats.org/drawingml/2006/main">
            <a:off x="628650" y="91440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575" b="0">
                <a:solidFill>
                  <a:srgbClr val="5D6B78"/>
                </a:solidFill>
                <a:latin typeface="Arial"/>
                <a:ea typeface="Arial"/>
                <a:cs typeface="Arial"/>
              </a:defRPr>
            </a:pPr>
            <a:r>
              <a:rPr sz="1575" b="0">
                <a:solidFill>
                  <a:srgbClr val="5D6B78"/>
                </a:solidFill>
                <a:latin typeface="Arial"/>
                <a:ea typeface="Arial"/>
                <a:cs typeface="Arial"/>
              </a:rPr>
              <a:t>Выводы описывают участников олимпиады и задают направления для дальнейшей проверки.</a:t>
            </a:r>
          </a:p>
        </p:txBody>
      </p:sp>
      <p:sp>
        <p:nvSpPr>
          <p:cNvPr id="3" name="">
            <a:extLst xmlns:a="http://schemas.openxmlformats.org/drawingml/2006/main">
              <a:ext uri="{FF2B5EF4-FFF2-40B4-BE49-F238E27FC236}">
                <a16:creationId xmlns:a16="http://schemas.microsoft.com/office/drawing/2014/main" id="{9A34B23F-14B8-4BD6-B682-BE4BB4872454}"/>
              </a:ext>
            </a:extLst>
          </p:cNvPr>
          <p:cNvSpPr>
            <a:spLocks xmlns:a="http://schemas.openxmlformats.org/drawingml/2006/main" noGrp="1"/>
          </p:cNvSpPr>
          <p:nvPr/>
        </p:nvSpPr>
        <p:spPr>
          <a:xfrm xmlns:a="http://schemas.openxmlformats.org/drawingml/2006/main">
            <a:off x="609600" y="65151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66667"/>
          </a:bodyPr>
          <a:lstStyle xmlns:a="http://schemas.openxmlformats.org/drawingml/2006/main"/>
          <a:p xmlns:a="http://schemas.openxmlformats.org/drawingml/2006/main">
            <a:pPr algn="l">
              <a:defRPr sz="975" b="0">
                <a:solidFill>
                  <a:srgbClr val="5D6B78"/>
                </a:solidFill>
                <a:latin typeface="Arial"/>
                <a:ea typeface="Arial"/>
                <a:cs typeface="Arial"/>
              </a:defRPr>
            </a:pPr>
            <a:r>
              <a:rPr sz="975" b="0">
                <a:solidFill>
                  <a:srgbClr val="5D6B78"/>
                </a:solidFill>
                <a:latin typeface="Arial"/>
                <a:ea typeface="Arial"/>
                <a:cs typeface="Arial"/>
              </a:rPr>
              <a:t>Источник: результаты олимпиады и словарь данных</a:t>
            </a:r>
          </a:p>
        </p:txBody>
      </p:sp>
      <p:sp>
        <p:nvSpPr>
          <p:cNvPr id="4" name="">
            <a:extLst xmlns:a="http://schemas.openxmlformats.org/drawingml/2006/main">
              <a:ext uri="{FF2B5EF4-FFF2-40B4-BE49-F238E27FC236}">
                <a16:creationId xmlns:a16="http://schemas.microsoft.com/office/drawing/2014/main" id="{F3821E33-809D-4E03-B938-B6290E63F669}"/>
              </a:ext>
            </a:extLst>
          </p:cNvPr>
          <p:cNvSpPr>
            <a:spLocks xmlns:a="http://schemas.openxmlformats.org/drawingml/2006/main" noGrp="1"/>
          </p:cNvSpPr>
          <p:nvPr/>
        </p:nvSpPr>
        <p:spPr>
          <a:xfrm xmlns:a="http://schemas.openxmlformats.org/drawingml/2006/main">
            <a:off x="742950" y="158115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88000"/>
          </a:bodyPr>
          <a:lstStyle xmlns:a="http://schemas.openxmlformats.org/drawingml/2006/main"/>
          <a:p xmlns:a="http://schemas.openxmlformats.org/drawingml/2006/main">
            <a:pPr algn="l">
              <a:defRPr sz="1875" b="1">
                <a:solidFill>
                  <a:srgbClr val="17324D"/>
                </a:solidFill>
                <a:latin typeface="Arial"/>
                <a:ea typeface="Arial"/>
                <a:cs typeface="Arial"/>
              </a:defRPr>
            </a:pPr>
            <a:r>
              <a:rPr sz="1875" b="1">
                <a:solidFill>
                  <a:srgbClr val="17324D"/>
                </a:solidFill>
                <a:latin typeface="Arial"/>
                <a:ea typeface="Arial"/>
                <a:cs typeface="Arial"/>
              </a:rPr>
              <a:t>Образовательная команда</a:t>
            </a:r>
          </a:p>
        </p:txBody>
      </p:sp>
      <p:sp>
        <p:nvSpPr>
          <p:cNvPr id="5" name="">
            <a:extLst xmlns:a="http://schemas.openxmlformats.org/drawingml/2006/main">
              <a:ext uri="{FF2B5EF4-FFF2-40B4-BE49-F238E27FC236}">
                <a16:creationId xmlns:a16="http://schemas.microsoft.com/office/drawing/2014/main" id="{0817D587-87FB-434B-BC4D-E58E92393A19}"/>
              </a:ext>
            </a:extLst>
          </p:cNvPr>
          <p:cNvSpPr>
            <a:spLocks xmlns:a="http://schemas.openxmlformats.org/drawingml/2006/main" noGrp="1"/>
          </p:cNvSpPr>
          <p:nvPr/>
        </p:nvSpPr>
        <p:spPr>
          <a:xfrm xmlns:a="http://schemas.openxmlformats.org/drawingml/2006/main">
            <a:off x="762000" y="2057400"/>
            <a:ext cx="4857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575" b="0">
                <a:solidFill>
                  <a:srgbClr val="243746"/>
                </a:solidFill>
                <a:latin typeface="Arial"/>
                <a:ea typeface="Arial"/>
                <a:cs typeface="Arial"/>
              </a:defRPr>
            </a:pPr>
            <a:r>
              <a:rPr sz="1575" b="0">
                <a:solidFill>
                  <a:srgbClr val="243746"/>
                </a:solidFill>
                <a:latin typeface="Arial"/>
                <a:ea typeface="Arial"/>
                <a:cs typeface="Arial"/>
              </a:rPr>
              <a:t>Проверить формулировку и содержание задания 1: правильных ответов 29,8%.</a:t>
            </a:r>
          </a:p>
          <a:p xmlns:a="http://schemas.openxmlformats.org/drawingml/2006/main">
            <a:r>
              <a:t/>
            </a:r>
          </a:p>
          <a:p xmlns:a="http://schemas.openxmlformats.org/drawingml/2006/main">
            <a:pPr algn="l">
              <a:defRPr sz="1575" b="0">
                <a:solidFill>
                  <a:srgbClr val="243746"/>
                </a:solidFill>
                <a:latin typeface="Arial"/>
                <a:ea typeface="Arial"/>
                <a:cs typeface="Arial"/>
              </a:defRPr>
            </a:pPr>
            <a:r>
              <a:rPr sz="1575" b="0">
                <a:solidFill>
                  <a:srgbClr val="243746"/>
                </a:solidFill>
                <a:latin typeface="Arial"/>
                <a:ea typeface="Arial"/>
                <a:cs typeface="Arial"/>
              </a:rPr>
              <a:t>Изучить задание 5: оно самое лёгкое, но в среднем занимает 81 секунду.</a:t>
            </a:r>
          </a:p>
        </p:txBody>
      </p:sp>
      <p:sp>
        <p:nvSpPr>
          <p:cNvPr id="6" name="">
            <a:extLst xmlns:a="http://schemas.openxmlformats.org/drawingml/2006/main">
              <a:ext uri="{FF2B5EF4-FFF2-40B4-BE49-F238E27FC236}">
                <a16:creationId xmlns:a16="http://schemas.microsoft.com/office/drawing/2014/main" id="{4E8FB67F-E814-4809-9790-68E70A89562C}"/>
              </a:ext>
            </a:extLst>
          </p:cNvPr>
          <p:cNvSpPr>
            <a:spLocks xmlns:a="http://schemas.openxmlformats.org/drawingml/2006/main" noGrp="1"/>
          </p:cNvSpPr>
          <p:nvPr/>
        </p:nvSpPr>
        <p:spPr>
          <a:xfrm xmlns:a="http://schemas.openxmlformats.org/drawingml/2006/main">
            <a:off x="6343650" y="15811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88000"/>
          </a:bodyPr>
          <a:lstStyle xmlns:a="http://schemas.openxmlformats.org/drawingml/2006/main"/>
          <a:p xmlns:a="http://schemas.openxmlformats.org/drawingml/2006/main">
            <a:pPr algn="l">
              <a:defRPr sz="1875" b="1">
                <a:solidFill>
                  <a:srgbClr val="17324D"/>
                </a:solidFill>
                <a:latin typeface="Arial"/>
                <a:ea typeface="Arial"/>
                <a:cs typeface="Arial"/>
              </a:defRPr>
            </a:pPr>
            <a:r>
              <a:rPr sz="1875" b="1">
                <a:solidFill>
                  <a:srgbClr val="17324D"/>
                </a:solidFill>
                <a:latin typeface="Arial"/>
                <a:ea typeface="Arial"/>
                <a:cs typeface="Arial"/>
              </a:rPr>
              <a:t>Продуктовая команда</a:t>
            </a:r>
          </a:p>
        </p:txBody>
      </p:sp>
      <p:sp>
        <p:nvSpPr>
          <p:cNvPr id="7" name="">
            <a:extLst xmlns:a="http://schemas.openxmlformats.org/drawingml/2006/main">
              <a:ext uri="{FF2B5EF4-FFF2-40B4-BE49-F238E27FC236}">
                <a16:creationId xmlns:a16="http://schemas.microsoft.com/office/drawing/2014/main" id="{3E4FE728-23A8-4153-A76D-A89E3465FE99}"/>
              </a:ext>
            </a:extLst>
          </p:cNvPr>
          <p:cNvSpPr>
            <a:spLocks xmlns:a="http://schemas.openxmlformats.org/drawingml/2006/main" noGrp="1"/>
          </p:cNvSpPr>
          <p:nvPr/>
        </p:nvSpPr>
        <p:spPr>
          <a:xfrm xmlns:a="http://schemas.openxmlformats.org/drawingml/2006/main">
            <a:off x="6362700" y="2057400"/>
            <a:ext cx="4953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575" b="0">
                <a:solidFill>
                  <a:srgbClr val="243746"/>
                </a:solidFill>
                <a:latin typeface="Arial"/>
                <a:ea typeface="Arial"/>
                <a:cs typeface="Arial"/>
              </a:defRPr>
            </a:pPr>
            <a:r>
              <a:rPr sz="1575" b="0">
                <a:solidFill>
                  <a:srgbClr val="243746"/>
                </a:solidFill>
                <a:latin typeface="Arial"/>
                <a:ea typeface="Arial"/>
                <a:cs typeface="Arial"/>
              </a:rPr>
              <a:t>Сохранять качество мобильного прохождения: им пользуется более трети участников.</a:t>
            </a:r>
          </a:p>
          <a:p xmlns:a="http://schemas.openxmlformats.org/drawingml/2006/main">
            <a:r>
              <a:t/>
            </a:r>
          </a:p>
          <a:p xmlns:a="http://schemas.openxmlformats.org/drawingml/2006/main">
            <a:pPr algn="l">
              <a:defRPr sz="1575" b="0">
                <a:solidFill>
                  <a:srgbClr val="243746"/>
                </a:solidFill>
                <a:latin typeface="Arial"/>
                <a:ea typeface="Arial"/>
                <a:cs typeface="Arial"/>
              </a:defRPr>
            </a:pPr>
            <a:r>
              <a:rPr sz="1575" b="0">
                <a:solidFill>
                  <a:srgbClr val="243746"/>
                </a:solidFill>
                <a:latin typeface="Arial"/>
                <a:ea typeface="Arial"/>
                <a:cs typeface="Arial"/>
              </a:rPr>
              <a:t>Продолжать мониторить разрывы соединения, хотя в текущей выборке явного снижения результатов не видно.</a:t>
            </a:r>
          </a:p>
        </p:txBody>
      </p:sp>
      <p:sp>
        <p:nvSpPr>
          <p:cNvPr id="8" name="">
            <a:extLst xmlns:a="http://schemas.openxmlformats.org/drawingml/2006/main">
              <a:ext uri="{FF2B5EF4-FFF2-40B4-BE49-F238E27FC236}">
                <a16:creationId xmlns:a16="http://schemas.microsoft.com/office/drawing/2014/main" id="{86B85BAF-6A68-4957-B09F-D4CABF4AED9D}"/>
              </a:ext>
            </a:extLst>
          </p:cNvPr>
          <p:cNvSpPr>
            <a:spLocks xmlns:a="http://schemas.openxmlformats.org/drawingml/2006/main" noGrp="1"/>
          </p:cNvSpPr>
          <p:nvPr/>
        </p:nvSpPr>
        <p:spPr>
          <a:xfrm xmlns:a="http://schemas.openxmlformats.org/drawingml/2006/main">
            <a:off x="781050" y="4695825"/>
            <a:ext cx="10525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rmAutofit fontScale="100000"/>
          </a:bodyPr>
          <a:lstStyle xmlns:a="http://schemas.openxmlformats.org/drawingml/2006/main"/>
          <a:p xmlns:a="http://schemas.openxmlformats.org/drawingml/2006/main">
            <a:pPr algn="l">
              <a:defRPr sz="1425" b="0">
                <a:solidFill>
                  <a:srgbClr val="5D6B78"/>
                </a:solidFill>
                <a:latin typeface="Arial"/>
                <a:ea typeface="Arial"/>
                <a:cs typeface="Arial"/>
              </a:defRPr>
            </a:pPr>
            <a:r>
              <a:rPr sz="1425" b="0">
                <a:solidFill>
                  <a:srgbClr val="5D6B78"/>
                </a:solidFill>
                <a:latin typeface="Arial"/>
                <a:ea typeface="Arial"/>
                <a:cs typeface="Arial"/>
              </a:rPr>
              <a:t>Ограничения: нет знаменателя для оценки регионального охвата и текстов заданий для анализа причин сложности. Аномально быстрые сессии помечены по метрикам, но их природа не установлена.</a:t>
            </a:r>
          </a:p>
        </p:txBody>
      </p:sp>
    </p:spTree>
    <p:extLst>
      <p:ext uri="{BB962C8B-B14F-4D97-AF65-F5344CB8AC3E}">
        <p14:creationId xmlns:p14="http://schemas.microsoft.com/office/powerpoint/2010/main" val="12398011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2026-10-02T17:06:37.6930000Z</dcterms:created>
  <dcterms:modified xsi:type="dcterms:W3CDTF">2026-10-02T17:06:37.6930000Z</dcterms:modified>
</coreProperties>
</file>